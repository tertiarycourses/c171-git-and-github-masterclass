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0" r:id="rId11"/>
    <p:sldId id="261" r:id="rId12"/>
    <p:sldId id="262" r:id="rId13"/>
    <p:sldId id="263" r:id="rId14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4" r:id="rId155"/>
    <p:sldId id="405" r:id="rId1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slide" Target="slides/slide46.xml"/><Relationship Id="rId57" Type="http://schemas.openxmlformats.org/officeDocument/2006/relationships/slide" Target="slides/slide47.xml"/><Relationship Id="rId58" Type="http://schemas.openxmlformats.org/officeDocument/2006/relationships/slide" Target="slides/slide48.xml"/><Relationship Id="rId59" Type="http://schemas.openxmlformats.org/officeDocument/2006/relationships/slide" Target="slides/slide49.xml"/><Relationship Id="rId60" Type="http://schemas.openxmlformats.org/officeDocument/2006/relationships/slide" Target="slides/slide50.xml"/><Relationship Id="rId61" Type="http://schemas.openxmlformats.org/officeDocument/2006/relationships/slide" Target="slides/slide51.xml"/><Relationship Id="rId62" Type="http://schemas.openxmlformats.org/officeDocument/2006/relationships/slide" Target="slides/slide52.xml"/><Relationship Id="rId63" Type="http://schemas.openxmlformats.org/officeDocument/2006/relationships/slide" Target="slides/slide53.xml"/><Relationship Id="rId64" Type="http://schemas.openxmlformats.org/officeDocument/2006/relationships/slide" Target="slides/slide54.xml"/><Relationship Id="rId65" Type="http://schemas.openxmlformats.org/officeDocument/2006/relationships/slide" Target="slides/slide55.xml"/><Relationship Id="rId66" Type="http://schemas.openxmlformats.org/officeDocument/2006/relationships/slide" Target="slides/slide56.xml"/><Relationship Id="rId67" Type="http://schemas.openxmlformats.org/officeDocument/2006/relationships/slide" Target="slides/slide57.xml"/><Relationship Id="rId68" Type="http://schemas.openxmlformats.org/officeDocument/2006/relationships/slide" Target="slides/slide58.xml"/><Relationship Id="rId69" Type="http://schemas.openxmlformats.org/officeDocument/2006/relationships/slide" Target="slides/slide59.xml"/><Relationship Id="rId70" Type="http://schemas.openxmlformats.org/officeDocument/2006/relationships/slide" Target="slides/slide60.xml"/><Relationship Id="rId71" Type="http://schemas.openxmlformats.org/officeDocument/2006/relationships/slide" Target="slides/slide61.xml"/><Relationship Id="rId72" Type="http://schemas.openxmlformats.org/officeDocument/2006/relationships/slide" Target="slides/slide62.xml"/><Relationship Id="rId73" Type="http://schemas.openxmlformats.org/officeDocument/2006/relationships/slide" Target="slides/slide63.xml"/><Relationship Id="rId74" Type="http://schemas.openxmlformats.org/officeDocument/2006/relationships/slide" Target="slides/slide64.xml"/><Relationship Id="rId75" Type="http://schemas.openxmlformats.org/officeDocument/2006/relationships/slide" Target="slides/slide65.xml"/><Relationship Id="rId76" Type="http://schemas.openxmlformats.org/officeDocument/2006/relationships/slide" Target="slides/slide66.xml"/><Relationship Id="rId77" Type="http://schemas.openxmlformats.org/officeDocument/2006/relationships/slide" Target="slides/slide67.xml"/><Relationship Id="rId78" Type="http://schemas.openxmlformats.org/officeDocument/2006/relationships/slide" Target="slides/slide68.xml"/><Relationship Id="rId79" Type="http://schemas.openxmlformats.org/officeDocument/2006/relationships/slide" Target="slides/slide69.xml"/><Relationship Id="rId80" Type="http://schemas.openxmlformats.org/officeDocument/2006/relationships/slide" Target="slides/slide70.xml"/><Relationship Id="rId81" Type="http://schemas.openxmlformats.org/officeDocument/2006/relationships/slide" Target="slides/slide71.xml"/><Relationship Id="rId82" Type="http://schemas.openxmlformats.org/officeDocument/2006/relationships/slide" Target="slides/slide72.xml"/><Relationship Id="rId83" Type="http://schemas.openxmlformats.org/officeDocument/2006/relationships/slide" Target="slides/slide73.xml"/><Relationship Id="rId84" Type="http://schemas.openxmlformats.org/officeDocument/2006/relationships/slide" Target="slides/slide74.xml"/><Relationship Id="rId85" Type="http://schemas.openxmlformats.org/officeDocument/2006/relationships/slide" Target="slides/slide75.xml"/><Relationship Id="rId86" Type="http://schemas.openxmlformats.org/officeDocument/2006/relationships/slide" Target="slides/slide76.xml"/><Relationship Id="rId87" Type="http://schemas.openxmlformats.org/officeDocument/2006/relationships/slide" Target="slides/slide77.xml"/><Relationship Id="rId88" Type="http://schemas.openxmlformats.org/officeDocument/2006/relationships/slide" Target="slides/slide78.xml"/><Relationship Id="rId89" Type="http://schemas.openxmlformats.org/officeDocument/2006/relationships/slide" Target="slides/slide79.xml"/><Relationship Id="rId90" Type="http://schemas.openxmlformats.org/officeDocument/2006/relationships/slide" Target="slides/slide80.xml"/><Relationship Id="rId91" Type="http://schemas.openxmlformats.org/officeDocument/2006/relationships/slide" Target="slides/slide81.xml"/><Relationship Id="rId92" Type="http://schemas.openxmlformats.org/officeDocument/2006/relationships/slide" Target="slides/slide82.xml"/><Relationship Id="rId93" Type="http://schemas.openxmlformats.org/officeDocument/2006/relationships/slide" Target="slides/slide83.xml"/><Relationship Id="rId94" Type="http://schemas.openxmlformats.org/officeDocument/2006/relationships/slide" Target="slides/slide84.xml"/><Relationship Id="rId95" Type="http://schemas.openxmlformats.org/officeDocument/2006/relationships/slide" Target="slides/slide85.xml"/><Relationship Id="rId96" Type="http://schemas.openxmlformats.org/officeDocument/2006/relationships/slide" Target="slides/slide86.xml"/><Relationship Id="rId97" Type="http://schemas.openxmlformats.org/officeDocument/2006/relationships/slide" Target="slides/slide87.xml"/><Relationship Id="rId98" Type="http://schemas.openxmlformats.org/officeDocument/2006/relationships/slide" Target="slides/slide88.xml"/><Relationship Id="rId99" Type="http://schemas.openxmlformats.org/officeDocument/2006/relationships/slide" Target="slides/slide89.xml"/><Relationship Id="rId100" Type="http://schemas.openxmlformats.org/officeDocument/2006/relationships/slide" Target="slides/slide90.xml"/><Relationship Id="rId101" Type="http://schemas.openxmlformats.org/officeDocument/2006/relationships/slide" Target="slides/slide91.xml"/><Relationship Id="rId102" Type="http://schemas.openxmlformats.org/officeDocument/2006/relationships/slide" Target="slides/slide92.xml"/><Relationship Id="rId103" Type="http://schemas.openxmlformats.org/officeDocument/2006/relationships/slide" Target="slides/slide93.xml"/><Relationship Id="rId104" Type="http://schemas.openxmlformats.org/officeDocument/2006/relationships/slide" Target="slides/slide94.xml"/><Relationship Id="rId105" Type="http://schemas.openxmlformats.org/officeDocument/2006/relationships/slide" Target="slides/slide95.xml"/><Relationship Id="rId106" Type="http://schemas.openxmlformats.org/officeDocument/2006/relationships/slide" Target="slides/slide96.xml"/><Relationship Id="rId107" Type="http://schemas.openxmlformats.org/officeDocument/2006/relationships/slide" Target="slides/slide97.xml"/><Relationship Id="rId108" Type="http://schemas.openxmlformats.org/officeDocument/2006/relationships/slide" Target="slides/slide98.xml"/><Relationship Id="rId109" Type="http://schemas.openxmlformats.org/officeDocument/2006/relationships/slide" Target="slides/slide99.xml"/><Relationship Id="rId110" Type="http://schemas.openxmlformats.org/officeDocument/2006/relationships/slide" Target="slides/slide100.xml"/><Relationship Id="rId111" Type="http://schemas.openxmlformats.org/officeDocument/2006/relationships/slide" Target="slides/slide101.xml"/><Relationship Id="rId112" Type="http://schemas.openxmlformats.org/officeDocument/2006/relationships/slide" Target="slides/slide102.xml"/><Relationship Id="rId113" Type="http://schemas.openxmlformats.org/officeDocument/2006/relationships/slide" Target="slides/slide103.xml"/><Relationship Id="rId114" Type="http://schemas.openxmlformats.org/officeDocument/2006/relationships/slide" Target="slides/slide104.xml"/><Relationship Id="rId115" Type="http://schemas.openxmlformats.org/officeDocument/2006/relationships/slide" Target="slides/slide105.xml"/><Relationship Id="rId116" Type="http://schemas.openxmlformats.org/officeDocument/2006/relationships/slide" Target="slides/slide106.xml"/><Relationship Id="rId117" Type="http://schemas.openxmlformats.org/officeDocument/2006/relationships/slide" Target="slides/slide107.xml"/><Relationship Id="rId118" Type="http://schemas.openxmlformats.org/officeDocument/2006/relationships/slide" Target="slides/slide108.xml"/><Relationship Id="rId119" Type="http://schemas.openxmlformats.org/officeDocument/2006/relationships/slide" Target="slides/slide109.xml"/><Relationship Id="rId120" Type="http://schemas.openxmlformats.org/officeDocument/2006/relationships/slide" Target="slides/slide110.xml"/><Relationship Id="rId121" Type="http://schemas.openxmlformats.org/officeDocument/2006/relationships/slide" Target="slides/slide111.xml"/><Relationship Id="rId122" Type="http://schemas.openxmlformats.org/officeDocument/2006/relationships/slide" Target="slides/slide112.xml"/><Relationship Id="rId123" Type="http://schemas.openxmlformats.org/officeDocument/2006/relationships/slide" Target="slides/slide113.xml"/><Relationship Id="rId124" Type="http://schemas.openxmlformats.org/officeDocument/2006/relationships/slide" Target="slides/slide114.xml"/><Relationship Id="rId125" Type="http://schemas.openxmlformats.org/officeDocument/2006/relationships/slide" Target="slides/slide115.xml"/><Relationship Id="rId126" Type="http://schemas.openxmlformats.org/officeDocument/2006/relationships/slide" Target="slides/slide116.xml"/><Relationship Id="rId127" Type="http://schemas.openxmlformats.org/officeDocument/2006/relationships/slide" Target="slides/slide117.xml"/><Relationship Id="rId128" Type="http://schemas.openxmlformats.org/officeDocument/2006/relationships/slide" Target="slides/slide118.xml"/><Relationship Id="rId129" Type="http://schemas.openxmlformats.org/officeDocument/2006/relationships/slide" Target="slides/slide119.xml"/><Relationship Id="rId130" Type="http://schemas.openxmlformats.org/officeDocument/2006/relationships/slide" Target="slides/slide120.xml"/><Relationship Id="rId131" Type="http://schemas.openxmlformats.org/officeDocument/2006/relationships/slide" Target="slides/slide121.xml"/><Relationship Id="rId132" Type="http://schemas.openxmlformats.org/officeDocument/2006/relationships/slide" Target="slides/slide122.xml"/><Relationship Id="rId133" Type="http://schemas.openxmlformats.org/officeDocument/2006/relationships/slide" Target="slides/slide123.xml"/><Relationship Id="rId134" Type="http://schemas.openxmlformats.org/officeDocument/2006/relationships/slide" Target="slides/slide124.xml"/><Relationship Id="rId135" Type="http://schemas.openxmlformats.org/officeDocument/2006/relationships/slide" Target="slides/slide125.xml"/><Relationship Id="rId136" Type="http://schemas.openxmlformats.org/officeDocument/2006/relationships/slide" Target="slides/slide126.xml"/><Relationship Id="rId137" Type="http://schemas.openxmlformats.org/officeDocument/2006/relationships/slide" Target="slides/slide127.xml"/><Relationship Id="rId138" Type="http://schemas.openxmlformats.org/officeDocument/2006/relationships/slide" Target="slides/slide128.xml"/><Relationship Id="rId139" Type="http://schemas.openxmlformats.org/officeDocument/2006/relationships/slide" Target="slides/slide129.xml"/><Relationship Id="rId140" Type="http://schemas.openxmlformats.org/officeDocument/2006/relationships/slide" Target="slides/slide130.xml"/><Relationship Id="rId141" Type="http://schemas.openxmlformats.org/officeDocument/2006/relationships/slide" Target="slides/slide131.xml"/><Relationship Id="rId142" Type="http://schemas.openxmlformats.org/officeDocument/2006/relationships/slide" Target="slides/slide132.xml"/><Relationship Id="rId143" Type="http://schemas.openxmlformats.org/officeDocument/2006/relationships/slide" Target="slides/slide133.xml"/><Relationship Id="rId144" Type="http://schemas.openxmlformats.org/officeDocument/2006/relationships/slide" Target="slides/slide134.xml"/><Relationship Id="rId145" Type="http://schemas.openxmlformats.org/officeDocument/2006/relationships/slide" Target="slides/slide135.xml"/><Relationship Id="rId146" Type="http://schemas.openxmlformats.org/officeDocument/2006/relationships/slide" Target="slides/slide136.xml"/><Relationship Id="rId147" Type="http://schemas.openxmlformats.org/officeDocument/2006/relationships/slide" Target="slides/slide137.xml"/><Relationship Id="rId148" Type="http://schemas.openxmlformats.org/officeDocument/2006/relationships/slide" Target="slides/slide138.xml"/><Relationship Id="rId149" Type="http://schemas.openxmlformats.org/officeDocument/2006/relationships/slide" Target="slides/slide139.xml"/><Relationship Id="rId150" Type="http://schemas.openxmlformats.org/officeDocument/2006/relationships/slide" Target="slides/slide140.xml"/><Relationship Id="rId151" Type="http://schemas.openxmlformats.org/officeDocument/2006/relationships/slide" Target="slides/slide141.xml"/><Relationship Id="rId152" Type="http://schemas.openxmlformats.org/officeDocument/2006/relationships/slide" Target="slides/slide142.xml"/><Relationship Id="rId155" Type="http://schemas.openxmlformats.org/officeDocument/2006/relationships/slide" Target="slides/slide143.xml"/><Relationship Id="rId156" Type="http://schemas.openxmlformats.org/officeDocument/2006/relationships/slide" Target="slides/slide14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Minimum weighting</c:v>
                </c:pt>
              </c:strCache>
            </c:strRef>
          </c:tx>
          <c:spPr>
            <a:solidFill>
              <a:srgbClr val="10B981"/>
            </a:solidFill>
          </c:spPr>
          <c:cat>
            <c:strRef>
              <c:f>Sheet1!$A$2:$A$8</c:f>
              <c:strCache>
                <c:ptCount val="7"/>
                <c:pt idx="0">
                  <c:v>Git &amp; GitHub basics</c:v>
                </c:pt>
                <c:pt idx="1">
                  <c:v>Repositories</c:v>
                </c:pt>
                <c:pt idx="2">
                  <c:v>Collaboration</c:v>
                </c:pt>
                <c:pt idx="3">
                  <c:v>Modern development</c:v>
                </c:pt>
                <c:pt idx="4">
                  <c:v>Projects</c:v>
                </c:pt>
                <c:pt idx="5">
                  <c:v>Security &amp; administration</c:v>
                </c:pt>
                <c:pt idx="6">
                  <c:v>Community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5</c:v>
                </c:pt>
                <c:pt idx="5">
                  <c:v>10</c:v>
                </c:pt>
                <c:pt idx="6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Maximum weighting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Sheet1!$A$2:$A$8</c:f>
              <c:strCache>
                <c:ptCount val="7"/>
                <c:pt idx="0">
                  <c:v>Git &amp; GitHub basics</c:v>
                </c:pt>
                <c:pt idx="1">
                  <c:v>Repositories</c:v>
                </c:pt>
                <c:pt idx="2">
                  <c:v>Collaboration</c:v>
                </c:pt>
                <c:pt idx="3">
                  <c:v>Modern development</c:v>
                </c:pt>
                <c:pt idx="4">
                  <c:v>Projects</c:v>
                </c:pt>
                <c:pt idx="5">
                  <c:v>Security &amp; administration</c:v>
                </c:pt>
                <c:pt idx="6">
                  <c:v>Community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30</c:v>
                </c:pt>
                <c:pt idx="1">
                  <c:v>15</c:v>
                </c:pt>
                <c:pt idx="2">
                  <c:v>15</c:v>
                </c:pt>
                <c:pt idx="3">
                  <c:v>15</c:v>
                </c:pt>
                <c:pt idx="4">
                  <c:v>10</c:v>
                </c:pt>
                <c:pt idx="5">
                  <c:v>15</c:v>
                </c:pt>
                <c:pt idx="6">
                  <c:v>10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axMin"/>
        </c:scaling>
        <c:delete val="0"/>
        <c:axPos val="l"/>
        <c:majorTickMark val="out"/>
        <c:minorTickMark val="none"/>
        <c:tickLblPos val="nextTo"/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>
          <c:max val="35.0"/>
          <c:min val="0.0"/>
        </c:scaling>
        <c:delete val="0"/>
        <c:axPos val="b"/>
        <c:majorGridlines/>
        <c:majorTickMark val="out"/>
        <c:minorTickMark val="none"/>
        <c:tickLblPos val="nextTo"/>
        <c:crossAx val="2226939960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ithub-foundations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7200"/>
            <a:ext cx="658368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1444752"/>
            <a:ext cx="4800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SLIDES · NON-WSQ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47088"/>
            <a:ext cx="498348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Git and Github Masterclass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4005072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4297680"/>
            <a:ext cx="5074920" cy="11155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Course Code: C171</a:t>
            </a:r>
          </a:p>
          <a:p>
            <a:r>
              <a:rPr sz="1500" b="0">
                <a:latin typeface="Arial"/>
              </a:rPr>
              <a:t>Exam: GH-900 · 100 minutes</a:t>
            </a:r>
          </a:p>
          <a:p>
            <a:r>
              <a:rPr sz="1500" b="0">
                <a:latin typeface="Arial"/>
              </a:rPr>
              <a:t>Version v3.0 · 4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144768"/>
            <a:ext cx="56692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Tertiary Infotech Academy Pte Ltd · UEN 201200696W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6384" y="2121408"/>
            <a:ext cx="128016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2084831"/>
            <a:ext cx="98755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2606040"/>
            <a:ext cx="9966960" cy="12984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03504"/>
            <a:ext cx="2971800" cy="1325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68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591056"/>
            <a:ext cx="10652760" cy="31089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618488"/>
            <a:ext cx="1028700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GENERAL TRAINER TEMPLATE — THE DELIVERING TRAINER COMPLETES THIS PROFILE BEFORE CLASS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3246120" cy="4297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27632" y="2267712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2267712"/>
            <a:ext cx="1554480" cy="1554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33087"/>
            <a:ext cx="28803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Trainer 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727448"/>
            <a:ext cx="28346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Job Title · Organisation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783080"/>
            <a:ext cx="7040880" cy="87782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1783080"/>
            <a:ext cx="91440" cy="8778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1892807"/>
            <a:ext cx="1572768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1892807"/>
            <a:ext cx="480060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Current role and years of relevant industry experience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825496"/>
            <a:ext cx="7040880" cy="87782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2825496"/>
            <a:ext cx="91440" cy="8778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1728" y="2935224"/>
            <a:ext cx="1572768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FOCUS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2935224"/>
            <a:ext cx="480060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Primary technical domains and specialisations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867911"/>
            <a:ext cx="7040880" cy="87782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3867911"/>
            <a:ext cx="91440" cy="8778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81728" y="3977639"/>
            <a:ext cx="1572768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DELIVERY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8" y="3977639"/>
            <a:ext cx="480060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Certifications held and courses delivered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4910327"/>
            <a:ext cx="7040880" cy="87782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89120" y="4910327"/>
            <a:ext cx="91440" cy="87782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81728" y="5020055"/>
            <a:ext cx="1572768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B45309"/>
                </a:solidFill>
                <a:latin typeface="Arial"/>
              </a:rPr>
              <a:t>APPROACH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8" y="5020055"/>
            <a:ext cx="480060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Training philosophy and how learners are supported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3246120" cy="4297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27632" y="2267712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2267712"/>
            <a:ext cx="1554480" cy="1554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33087"/>
            <a:ext cx="28803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727448"/>
            <a:ext cx="28346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783080"/>
            <a:ext cx="7040880" cy="87782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783080"/>
            <a:ext cx="91440" cy="8778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1728" y="1892807"/>
            <a:ext cx="1572768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1892807"/>
            <a:ext cx="480060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Founder and principal trainer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2825496"/>
            <a:ext cx="7040880" cy="87782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2825496"/>
            <a:ext cx="91440" cy="8778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8" y="2935224"/>
            <a:ext cx="1572768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FOCUS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8" y="2935224"/>
            <a:ext cx="480060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Cloud, DevOps, automation and AI-enabled development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867911"/>
            <a:ext cx="7040880" cy="87782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3867911"/>
            <a:ext cx="91440" cy="8778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81728" y="3977639"/>
            <a:ext cx="1572768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8" y="3977639"/>
            <a:ext cx="480060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Certification-aligned technical training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4910327"/>
            <a:ext cx="7040880" cy="87782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9120" y="4910327"/>
            <a:ext cx="91440" cy="87782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1728" y="5020055"/>
            <a:ext cx="1572768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B45309"/>
                </a:solidFill>
                <a:latin typeface="Arial"/>
              </a:rPr>
              <a:t>APPROACH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5020055"/>
            <a:ext cx="4800600" cy="603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Concept clarity, hands-on evidence and exam readiness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883664"/>
            <a:ext cx="4759452" cy="1066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1636" y="1755648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1636" y="1755648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1883664"/>
            <a:ext cx="4759452" cy="1066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297936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297936"/>
            <a:ext cx="91440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425952"/>
            <a:ext cx="4759452" cy="1066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Ask questions early.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1636" y="3297936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3297936"/>
            <a:ext cx="91440" cy="13228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7668" y="3425952"/>
            <a:ext cx="4759452" cy="1066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Respect different experience levels.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840224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840224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968240"/>
            <a:ext cx="4759452" cy="1066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Return from breaks on 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1636" y="4840224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1636" y="4840224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87668" y="4968240"/>
            <a:ext cx="4759452" cy="1066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Protect credentials and never share secrets.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VISUAL COURSE PORTAL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21408"/>
            <a:ext cx="2478024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21408"/>
            <a:ext cx="2478024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68780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68780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493008"/>
            <a:ext cx="2148840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lms-tms.tertiaryinfotech.com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5264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02152" y="2121408"/>
            <a:ext cx="2478024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02152" y="2121408"/>
            <a:ext cx="2478024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93692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93692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6744" y="3493008"/>
            <a:ext cx="2148840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in with your registered email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0176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27064" y="2121408"/>
            <a:ext cx="2478024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7064" y="2121408"/>
            <a:ext cx="2478024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18604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18604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656" y="3493008"/>
            <a:ext cx="2148840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this course registration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05088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51976" y="2121408"/>
            <a:ext cx="2478024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51976" y="2121408"/>
            <a:ext cx="2478024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43516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43516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8" y="3493008"/>
            <a:ext cx="2148840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Download slides, Learner Guide and Labs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7.5 HOURS · 14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One-Day Lesson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1663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Morning · Git by doing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Install Git, Git Bash and Desktop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Stage, commit and read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Branch, merge and synchronise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Resolve conflicts and recover safely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72784" y="1783080"/>
            <a:ext cx="51663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Afternoon · Collaborate and govern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PRs, issues and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Actions, Codespaces and Copilot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Projects, security and community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GH-900 evidence-based preparation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6384" y="2121408"/>
            <a:ext cx="128016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2084831"/>
            <a:ext cx="98755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EXAM BLUEPRINT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2606040"/>
            <a:ext cx="9966960" cy="12984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GitHub Foundations (GH-900)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096512"/>
            <a:ext cx="97840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Seven domains · beginner level · proctored through Pearson VUE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603504"/>
            <a:ext cx="2971800" cy="1325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3600" b="1">
                <a:solidFill>
                  <a:srgbClr val="E2E8F0"/>
                </a:solidFill>
                <a:latin typeface="Arial"/>
              </a:rPr>
              <a:t>GH-900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GH-900 Domain Weightings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868680" y="1783080"/>
          <a:ext cx="1037844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6384" y="2121408"/>
            <a:ext cx="128016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2084831"/>
            <a:ext cx="98755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DOMAIN 01 · 25–30%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2606040"/>
            <a:ext cx="9966960" cy="12984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Understand Git and GitHub Basics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096512"/>
            <a:ext cx="97840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Version control · Git areas and states · commands · accounts · GitHub Flow · Markdown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603504"/>
            <a:ext cx="2971800" cy="1325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68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EXAM WEIGHTING 25–30%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Understand Git and GitHub Basics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11096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Version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History, traceability, rollback and safe parallel 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755648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1636" y="1755648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7668" y="1911096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Git vs GitHub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7668" y="2377440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Distributed version control locally; collaboration platform in the cloud.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297936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297936"/>
            <a:ext cx="91440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453384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Core objects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" y="3919728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Repository, working tree, staging area, commit, branch, HEAD, remote and tag.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3297936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297936"/>
            <a:ext cx="91440" cy="13228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453384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Arial"/>
              </a:rPr>
              <a:t>GitHub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7668" y="3919728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Branch → commit → pull request → review → merge → deploy.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840224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40224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" y="4995672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Account choices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" y="5462016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Personal accounts, organisations and enterprises solve different governance needs.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1636" y="4840224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1636" y="4840224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7668" y="4995672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Command literacy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7668" y="5462016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status, diff, add, commit and log turn file changes into deliberate snapshots.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FOUNDATIONAL DISTINCTION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Git and GitHub Are Complementary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1663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Git · local DVCS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Tracks snapshots and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Branches cheaply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Works offline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Pushes and pulls through remotes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72784" y="1783080"/>
            <a:ext cx="51663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GitHub · collaboration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Hosts Git repositories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Adds issues, PRs and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Adds automation and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Connects a global community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PREPARE ONCE · VERIFY BEFORE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Toolchain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21408"/>
            <a:ext cx="1933041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21408"/>
            <a:ext cx="1933041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6288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6288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493008"/>
            <a:ext cx="1603857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Install Git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0281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57169" y="2121408"/>
            <a:ext cx="1933041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57169" y="2121408"/>
            <a:ext cx="1933041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6217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6217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1761" y="3493008"/>
            <a:ext cx="1603857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Git Bash or terminal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0210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37098" y="2121408"/>
            <a:ext cx="1933041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37098" y="2121408"/>
            <a:ext cx="1933041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6146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6146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1690" y="3493008"/>
            <a:ext cx="1603857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Configure identity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0139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7027" y="2121408"/>
            <a:ext cx="1933041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7027" y="2121408"/>
            <a:ext cx="1933041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6075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6075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1619" y="3493008"/>
            <a:ext cx="1603857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Install GitHub Desktop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0068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96956" y="2121408"/>
            <a:ext cx="1933041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96956" y="2121408"/>
            <a:ext cx="1933041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6004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6004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1548" y="3493008"/>
            <a:ext cx="1603857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in and verify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FILES MOVE; COMMANDS CHANGE THE RECORDED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Four Git Areas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48840"/>
            <a:ext cx="2487168" cy="2011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148840"/>
            <a:ext cx="248716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87168"/>
            <a:ext cx="2121408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Working tree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81528"/>
            <a:ext cx="2121408" cy="4937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Editable files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61488" y="4407408"/>
            <a:ext cx="1051560" cy="45720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1216" y="4471416"/>
            <a:ext cx="832104" cy="3108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git add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2148840"/>
            <a:ext cx="2487168" cy="2011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0" y="2148840"/>
            <a:ext cx="2487168" cy="10972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80" y="2487168"/>
            <a:ext cx="2121408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B45309"/>
                </a:solidFill>
                <a:latin typeface="Arial"/>
              </a:rPr>
              <a:t>Staging area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3081528"/>
            <a:ext cx="2121408" cy="4937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Next snapshot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50408" y="4407408"/>
            <a:ext cx="1051560" cy="45720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0136" y="4471416"/>
            <a:ext cx="832104" cy="3108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git commit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148840"/>
            <a:ext cx="2487168" cy="2011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148840"/>
            <a:ext cx="2487168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487168"/>
            <a:ext cx="2121408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7C3AED"/>
                </a:solidFill>
                <a:latin typeface="Arial"/>
              </a:rPr>
              <a:t>Local repository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081528"/>
            <a:ext cx="2121408" cy="4937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Committed history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39328" y="4407408"/>
            <a:ext cx="1051560" cy="45720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49056" y="4471416"/>
            <a:ext cx="832104" cy="3108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git push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6840" y="2148840"/>
            <a:ext cx="2487168" cy="201168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06840" y="2148840"/>
            <a:ext cx="248716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9720" y="2487168"/>
            <a:ext cx="2121408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Remote repository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3081528"/>
            <a:ext cx="2121408" cy="4937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Published history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230368"/>
            <a:ext cx="1046988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git fetch updates remote-tracking references; git pull also integrates into the current branch.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STATUS REPORTS MULTIPLE DIMENSIONS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File Conditions Are Not One Linear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Untracked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working-tree file Git does not yet track.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3504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3504" y="1755648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9536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Modified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9536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tracked working-tree file differs from HEAD.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9768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9768" y="1755648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Staged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Selected content differs between the index and HEAD.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69080"/>
            <a:ext cx="91440" cy="20939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Arial"/>
              </a:rPr>
              <a:t>Committed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snapshot is recorded in local history.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3504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13504" y="4069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9536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Remote branch updated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9536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Push publishes commits; this is not a file state.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9768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9768" y="4069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5800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Key insight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5800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One file can have staged content plus newer unstaged edits.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OBSERVE · DECIDE · ACT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Inspect Before You Change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git status -sb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Where am I and what changed?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3504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3504" y="1755648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9536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git diff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9536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is unstaged?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9768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9768" y="1755648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git diff --staged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will the next commit contain?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69080"/>
            <a:ext cx="91440" cy="20939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Arial"/>
              </a:rPr>
              <a:t>git log --oneline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history already exists?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3504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13504" y="4069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9536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git remote -v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9536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Where will fetch and push connect?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9768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9768" y="4069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5800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git branch -vv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5800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does this branch track?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COMMIT ANATOMY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Commit Is More Than a Save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Snapshot of staged project content.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3504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3504" y="1755648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9536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Parent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9536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Link to the previous commit or commits.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9768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9768" y="1755648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Identity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Author and committer metadata.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69080"/>
            <a:ext cx="91440" cy="20939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Arial"/>
              </a:rPr>
              <a:t>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When the snapshot was recorded.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3504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13504" y="4069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9536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Message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9536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Why the outcome matters.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9768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9768" y="4069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5800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Hash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5800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Content-derived object identifier.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INSPECT BEFORE AND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Safe Daily Command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14628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4628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6960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93848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3848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1236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31236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58440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 diff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3568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0456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0456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47844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7844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5048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 add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0176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7064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7064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64452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64452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6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 diff --staged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96784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3672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3672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81060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81060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08264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 commit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13392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60280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860280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97668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97668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24872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 push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CHOOSE THE INTERFACE; KEEP THE MENTAL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GitHub Desktop and CLI Say the Same Thing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1663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GitHub Desktop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Commit to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Current branch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Fetch / Pull / Push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5321807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05</a:t>
            </a:r>
            <a:r>
              <a:rPr sz="1400" b="0">
                <a:solidFill>
                  <a:srgbClr val="161B26"/>
                </a:solidFill>
                <a:latin typeface="Arial"/>
              </a:rPr>
              <a:t>  History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2784" y="1783080"/>
            <a:ext cx="51663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Git commands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status + diff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commit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branch + switch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fetch / pull / push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5321807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05</a:t>
            </a:r>
            <a:r>
              <a:rPr sz="1400" b="0">
                <a:solidFill>
                  <a:srgbClr val="161B26"/>
                </a:solidFill>
                <a:latin typeface="Arial"/>
              </a:rPr>
              <a:t>  log + show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COLLABORATION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GitHub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14628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4628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Create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6960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93848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3848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1236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31236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58440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Commit focused 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3568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0456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0456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47844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7844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5048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Push branch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0176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7064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7064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64452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64452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6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pull request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96784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3672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3672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81060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81060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08264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Review and test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13392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60280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860280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97668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97668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24872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Merge and deploy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CONTENT-ADDRESSED BY SHA-1 HASH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Git Stores Four Kinds of Object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28800"/>
            <a:ext cx="2478024" cy="19751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2478024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103120"/>
            <a:ext cx="214884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commit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633472"/>
            <a:ext cx="2112264" cy="10607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Points to one tree, plus parent, author, time and message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2152" y="1828800"/>
            <a:ext cx="2478024" cy="19751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2152" y="1828800"/>
            <a:ext cx="2478024" cy="10972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66744" y="2103120"/>
            <a:ext cx="214884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B45309"/>
                </a:solidFill>
                <a:latin typeface="Arial"/>
              </a:rPr>
              <a:t>tree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2633472"/>
            <a:ext cx="2112264" cy="10607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directory listing: names pointing to blobs and other trees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1828800"/>
            <a:ext cx="2478024" cy="19751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7064" y="1828800"/>
            <a:ext cx="2478024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6" y="2103120"/>
            <a:ext cx="214884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blob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2633472"/>
            <a:ext cx="2112264" cy="10607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raw content of one file — no filename, no history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51976" y="1828800"/>
            <a:ext cx="2478024" cy="19751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51976" y="1828800"/>
            <a:ext cx="2478024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16568" y="2103120"/>
            <a:ext cx="214884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tag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2633472"/>
            <a:ext cx="2112264" cy="10607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 annotated name for a commit, with tagger and message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223260" y="2651760"/>
            <a:ext cx="310896" cy="310896"/>
          </a:xfrm>
          <a:prstGeom prst="rightArrow">
            <a:avLst/>
          </a:prstGeom>
          <a:solidFill>
            <a:srgbClr val="5B6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5948172" y="2651760"/>
            <a:ext cx="310896" cy="310896"/>
          </a:xfrm>
          <a:prstGeom prst="rightArrow">
            <a:avLst/>
          </a:prstGeom>
          <a:solidFill>
            <a:srgbClr val="5B6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73084" y="2633472"/>
            <a:ext cx="310896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5B6372"/>
                </a:solidFill>
                <a:latin typeface="Arial"/>
              </a:rPr>
              <a:t>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041648"/>
            <a:ext cx="5166360" cy="45720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" y="4105656"/>
            <a:ext cx="4946904" cy="3108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git cat-file -p HEAD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72784" y="4041648"/>
            <a:ext cx="5157216" cy="45720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2512" y="4105656"/>
            <a:ext cx="4937760" cy="3108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git hash-object -w &lt;file&gt;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681728"/>
            <a:ext cx="1065276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Every object is named by the SHA-1 hash of its own content.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Identical content stores once, whatever the filename. Change one byte and the blob hash changes, so the tree hash changes, so the commit hash changes — which is why history cannot be edited silently and why a commit ID is proof of exact content.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ACCOUNTS ARE NOT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Three Account Types Solve Three Problems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1663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Personal and organisation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Personal: your identity, owns repositories and acts under your 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Organisation: shared ownership, unlimited collaborators, team permissions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A personal account can belong to many organisations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Owners and security managers hold administrative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72784" y="1783080"/>
            <a:ext cx="51663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Enterprise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Groups many organisations under one handle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Central policy, billing and security enforcement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Enables InnerSource across organisations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Cloud or Server deployment; EMU provisions users from the IdP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PLAN SELECTION IS A GOVERNANCE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GitHub Plans and What They Add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Free (personal)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Unlimited public and private repos, Dependabot alerts, 2FA, 2,000 Actions minutes/month, 500 MB Packages.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3504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3504" y="1755648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9536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Free (organisation)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9536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Everything above plus team access controls; private repos have limited features.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9768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9768" y="1755648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Pro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Personal plan adding 3,000 Actions minutes, protected branches, code owners, Pages, Wikis and repository insights on private repos.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69080"/>
            <a:ext cx="91440" cy="20939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Arial"/>
              </a:rPr>
              <a:t>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 capability at organisation level plus draft PRs, team reviewers, scheduled reminders and Codespaces control.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3504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13504" y="4069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9536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Enterprise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9536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SAML SSO, SCIM provisioning, GitHub Connect, Advanced Security option, 99.9% SLA and centralised policy.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9768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9768" y="4069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5800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Billing 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5800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Each account is billed separately: fixed subscriptions plus usage-based charges for Actions minutes, storage and Copilot seats.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SAME PLATFORM, DIFFERENT SURFACES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GitHub Mobile and GitHub Desktop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1663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GitHub Mobile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Triage and clear notifications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Read, comment on and edit issues and PRs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Edit files inside a pull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Search users, repos and organisations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5321807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05</a:t>
            </a:r>
            <a:r>
              <a:rPr sz="1400" b="0">
                <a:solidFill>
                  <a:srgbClr val="161B26"/>
                </a:solidFill>
                <a:latin typeface="Arial"/>
              </a:rPr>
              <a:t>  Supports 2FA and new-device verification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2784" y="1783080"/>
            <a:ext cx="51663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GitHub Desktop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Add, clone and publish repositories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Stage changes interactively and add co-authors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Check out PR branches and view CI 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Compare changed images visually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5321807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05</a:t>
            </a:r>
            <a:r>
              <a:rPr sz="1400" b="0">
                <a:solidFill>
                  <a:srgbClr val="161B26"/>
                </a:solidFill>
                <a:latin typeface="Arial"/>
              </a:rPr>
              <a:t>  Open-source and free on Windows and macOS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Arial"/>
              </a:rPr>
              <a:t>WRITE ONCE, RENDER EVERYWHERE ON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GitHub-Flavored Markdown Essentials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Headings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# through ###### set levels 1–6, mirroring HTML h1–h6.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3504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3504" y="1755648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9536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Emphasis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9536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*italic* or _italic_; **bold** or __bold__; escape a literal with a backslash.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9768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9768" y="1755648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Lists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1. for ordered, - or * for unordered; indent two spaces to nest.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69080"/>
            <a:ext cx="91440" cy="20939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Arial"/>
              </a:rPr>
              <a:t>Links and images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[text](url) links; the same syntax prefixed with ! embeds an image.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3504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13504" y="4069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9536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Tables and quotes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9536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Pipes separate columns with a --- header row; &gt; marks a block quote.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9768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9768" y="4069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5800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5800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Backticks for inline `code`; triple backticks plus a language name for a highlighted block.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GFM EXTENDS STANDARD MARKDOWN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Markdown Features That Are GitHub-Specific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Task lists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- [x] and - [ ] render tickable checkboxes and a progress bar on issues.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3504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3504" y="1755648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9536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Autolinked references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9536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#123 links an issue or PR; owner/repo#123 crosses repositories.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9768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9768" y="1755648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Commit links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Paste seven or more characters of a commit SHA and GitHub links the commit.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69080"/>
            <a:ext cx="91440" cy="20939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Arial"/>
              </a:rPr>
              <a:t>@mentions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@user or @org/team notifies and records who was pulled into a thread.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3504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13504" y="4069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9536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Inline HTML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9536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raw HTML such as &lt;br /&gt; or &lt;details&gt; where Markdown has no syntax.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9768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9768" y="4069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5800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Slash commands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5800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/code, /table, /details, /tasklist, /saved-replies and /template insert Markdown for you.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1: Install Git, Git Bash and GitHub Desktop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28800"/>
            <a:ext cx="6583680" cy="98755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1993392"/>
            <a:ext cx="6089904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Northstar Learning is onboarding a new contributor on Windows or macOS and needs a repeatable setup record.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054096"/>
            <a:ext cx="6583680" cy="23408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273552"/>
            <a:ext cx="60350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YOU WILL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675887"/>
            <a:ext cx="598932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A verified Git/Git Bash and GitHub Desktop installation with identity and default-branch configuration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4901184"/>
            <a:ext cx="59893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https://git-scm.com/install/, https://desktop.github.com/download/, Git Bash or terminal, Excel evidence workbook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62672" y="1828800"/>
            <a:ext cx="3767328" cy="35661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2148840"/>
            <a:ext cx="31546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706624"/>
            <a:ext cx="3154680" cy="22494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Excel workbook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Action log · URLs · screenshots · status · reflection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Detailed procedures are in the Learner Guide and lab folder.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1 · SEE LG FOR PROCEDURES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 Workflow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68221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68221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Install Git and open Git Bash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9554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90722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90722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1703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1703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8738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Configure identity and main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3036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4204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04204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95185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95185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2220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Install and sign in to Desktop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16518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17686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17686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08667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08667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5702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Verify tools and record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3566160"/>
            <a:ext cx="1065276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ACCEPTANCE CRITERIA — THE LAB IS COMPLETE ONLY WHEN EVERY ITEM IS EVIDENCED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39502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39502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" y="39684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39684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Git version is recorded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46360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" y="46360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" y="46542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46542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Git Bash or terminal works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9632" y="39502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99632" y="39502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39684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48272" y="39684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GitHub Desktop is signed in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99632" y="46360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99632" y="46360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46542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48272" y="46542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Identity and default branch are verified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2: Create and Clone a Training Repository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28800"/>
            <a:ext cx="6583680" cy="98755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1993392"/>
            <a:ext cx="6089904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onboarding team needs a safe repository that every later lab can reuse.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054096"/>
            <a:ext cx="6583680" cy="23408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273552"/>
            <a:ext cx="60350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YOU WILL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675887"/>
            <a:ext cx="598932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A public northstar-git-lab repository cloned locally with a verified origin remote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4901184"/>
            <a:ext cx="59893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GitHub.com, Git Bash or terminal, GitHub Desktop, Markdown, Excel evidence workbook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62672" y="1828800"/>
            <a:ext cx="3767328" cy="35661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2148840"/>
            <a:ext cx="31546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706624"/>
            <a:ext cx="3154680" cy="22494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Excel workbook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Action log · URLs · screenshots · status · reflection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Detailed procedures are in the Learner Guide and lab folder.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2 · SEE LG FOR PROCEDURES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2 Workflow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68221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68221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Create the remote repository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9554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90722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90722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1703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1703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8738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Clone with git clone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3036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4204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04204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95185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95185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2220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Inspect origin and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16518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17686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17686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08667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08667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5702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Edit and compare CLI with Desktop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3566160"/>
            <a:ext cx="1065276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ACCEPTANCE CRITERIA — THE LAB IS COMPLETE ONLY WHEN EVERY ITEM IS EVIDENCED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39502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39502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" y="39684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39684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Remote repository exists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46360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" y="46360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" y="46542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46542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Local clone has origin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9632" y="39502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99632" y="39502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39684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48272" y="39684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CLI and Desktop show the same change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99632" y="46360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99632" y="46360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46542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48272" y="46542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Workbook records paths and states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Domain 01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975104"/>
            <a:ext cx="10561320" cy="32552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2359152"/>
            <a:ext cx="982980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Can you distinguish Git from GitHub and explain the GitHub Flow without relying on menu positions?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6512"/>
            <a:ext cx="973836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Exam readiness comes from recognising the purpose, trade-off and best-fit feature in a scenario.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6384" y="2121408"/>
            <a:ext cx="128016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2084831"/>
            <a:ext cx="98755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DOMAIN 02 · 10–15%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2606040"/>
            <a:ext cx="9966960" cy="12984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Work with GitHub Repositories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096512"/>
            <a:ext cx="97840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Repository structure · templates · files · branches ·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603504"/>
            <a:ext cx="2971800" cy="1325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68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EXAM WEIGHTING 10–15%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Work with GitHub Repositories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11096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Repository health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README, LICENSE, CONTRIBUTING, CODEOWNERS and SECURITY establish trust.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755648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1636" y="1755648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7668" y="1911096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Create and organise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7668" y="2377440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Templates, branches and clear names make repositories repeatable.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297936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297936"/>
            <a:ext cx="91440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453384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Manage 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" y="3919728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init, clone, status, diff, add, commit, log, branch, merge, fetch, pull and push.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3297936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297936"/>
            <a:ext cx="91440" cy="13228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453384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Arial"/>
              </a:rPr>
              <a:t>Visibility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7668" y="3919728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Insights, traffic, contributors, stars and dependency views reveal health.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840224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40224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" y="4995672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Maintenance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" y="5462016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Archive, transfer, protect and document repositories deliberately.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1636" y="4840224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1636" y="4840224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7668" y="4995672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Feature previews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7668" y="5462016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Test emerging capabilities without confusing preview with GA.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REPOSITORY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Five Files That Make a Repository Trustworthy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README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Purpose, use, setup and examples.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3504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3504" y="1755648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9536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LICENSE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9536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Permissions and conditions.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9768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9768" y="1755648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CONTRIBUTING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How to propose changes.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69080"/>
            <a:ext cx="91440" cy="20939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Arial"/>
              </a:rPr>
              <a:t>CODEOWNERS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Who reviews which paths.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3504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13504" y="4069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9536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9536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How to report vulnerabilities.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9768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9768" y="4069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5800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.gitignore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5800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never belongs in commits.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TWO STARTING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Start with init or clone?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1663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git init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Existing local folder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Creates .git history 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No remote by default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Add files and first commit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72784" y="1783080"/>
            <a:ext cx="51663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git clone &lt;url&gt;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Existing remote repository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Copies files and history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Configures origin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Checks out the default branch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GIT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Local Contribution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14628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4628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6960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93848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3848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1236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31236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58440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Inspect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3568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0456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0456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47844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7844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5048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Edit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0176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7064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7064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64452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64452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6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96784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3672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3672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81060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81060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08264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Commit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13392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60280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860280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97668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97668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24872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Push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SMALL COMMITS TELL A CLEAR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Selective Staging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21408"/>
            <a:ext cx="1933041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21408"/>
            <a:ext cx="1933041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6288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6288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493008"/>
            <a:ext cx="1603857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Edit several ideas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0281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57169" y="2121408"/>
            <a:ext cx="1933041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57169" y="2121408"/>
            <a:ext cx="1933041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6217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6217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1761" y="3493008"/>
            <a:ext cx="1603857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 diff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0210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37098" y="2121408"/>
            <a:ext cx="1933041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37098" y="2121408"/>
            <a:ext cx="1933041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6146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6146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1690" y="3493008"/>
            <a:ext cx="1603857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 add &lt;file&gt; or -p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0139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7027" y="2121408"/>
            <a:ext cx="1933041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7027" y="2121408"/>
            <a:ext cx="1933041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6075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6075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1619" y="3493008"/>
            <a:ext cx="1603857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 diff --staged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0068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96956" y="2121408"/>
            <a:ext cx="1933041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96956" y="2121408"/>
            <a:ext cx="1933041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6004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6004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1548" y="3493008"/>
            <a:ext cx="1603857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Commit one outcome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COMMIT GRAPH · HEAD · MAIN ·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Branches Are Movable Pointers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73352" y="3310128"/>
            <a:ext cx="1234440" cy="7315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34440" y="3108960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730752"/>
            <a:ext cx="68580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c1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9272" y="3310128"/>
            <a:ext cx="1234440" cy="7315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80360" y="3108960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3730752"/>
            <a:ext cx="68580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c2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65192" y="3310128"/>
            <a:ext cx="1234440" cy="7315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6280" y="3108960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730752"/>
            <a:ext cx="68580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c3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11112" y="3310128"/>
            <a:ext cx="1234440" cy="7315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72200" y="3108960"/>
            <a:ext cx="502920" cy="50292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3730752"/>
            <a:ext cx="68580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c4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57032" y="3310128"/>
            <a:ext cx="1234440" cy="7315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18120" y="310896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80" y="3730752"/>
            <a:ext cx="68580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c5</a:t>
            </a:r>
          </a:p>
        </p:txBody>
      </p:sp>
      <p:sp>
        <p:nvSpPr>
          <p:cNvPr id="25" name="Oval 24"/>
          <p:cNvSpPr/>
          <p:nvPr/>
        </p:nvSpPr>
        <p:spPr>
          <a:xfrm>
            <a:off x="9464040" y="310896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3730752"/>
            <a:ext cx="68580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c6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87568" y="2048256"/>
            <a:ext cx="1481328" cy="49377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87568" y="2112264"/>
            <a:ext cx="1481328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main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69680" y="2048256"/>
            <a:ext cx="1874519" cy="493776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0" y="2112264"/>
            <a:ext cx="1874519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feature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5984" y="3950208"/>
            <a:ext cx="1600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HEAD -&gt; feature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983480"/>
            <a:ext cx="1033272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commit stays fixed. Committing advances the current branch pointer; switching changes which branch HEAD follows.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COMMIT NODES · PARENT LINKS · BRANCH LABELS · MERGE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Read a Real History 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536192" y="3959352"/>
            <a:ext cx="1691640" cy="0"/>
          </a:xfrm>
          <a:prstGeom prst="line">
            <a:avLst/>
          </a:prstGeom>
          <a:ln w="381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27832" y="3959352"/>
            <a:ext cx="5349240" cy="0"/>
          </a:xfrm>
          <a:prstGeom prst="line">
            <a:avLst/>
          </a:prstGeom>
          <a:ln w="381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77072" y="3959352"/>
            <a:ext cx="1737360" cy="0"/>
          </a:xfrm>
          <a:prstGeom prst="line">
            <a:avLst/>
          </a:prstGeom>
          <a:ln w="381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227832" y="2743200"/>
            <a:ext cx="1737360" cy="1216152"/>
          </a:xfrm>
          <a:prstGeom prst="line">
            <a:avLst/>
          </a:prstGeom>
          <a:ln w="381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65192" y="2743200"/>
            <a:ext cx="1737360" cy="0"/>
          </a:xfrm>
          <a:prstGeom prst="line">
            <a:avLst/>
          </a:prstGeom>
          <a:ln w="381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702552" y="2743200"/>
            <a:ext cx="1874520" cy="1216152"/>
          </a:xfrm>
          <a:prstGeom prst="line">
            <a:avLst/>
          </a:prstGeom>
          <a:ln w="381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280160" y="370332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325112"/>
            <a:ext cx="694944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c1</a:t>
            </a:r>
          </a:p>
        </p:txBody>
      </p:sp>
      <p:sp>
        <p:nvSpPr>
          <p:cNvPr id="18" name="Oval 17"/>
          <p:cNvSpPr/>
          <p:nvPr/>
        </p:nvSpPr>
        <p:spPr>
          <a:xfrm>
            <a:off x="2971800" y="370332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4325112"/>
            <a:ext cx="694944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c2</a:t>
            </a:r>
          </a:p>
        </p:txBody>
      </p:sp>
      <p:sp>
        <p:nvSpPr>
          <p:cNvPr id="20" name="Oval 19"/>
          <p:cNvSpPr/>
          <p:nvPr/>
        </p:nvSpPr>
        <p:spPr>
          <a:xfrm>
            <a:off x="4709160" y="248716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3108960"/>
            <a:ext cx="694944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f1</a:t>
            </a:r>
          </a:p>
        </p:txBody>
      </p:sp>
      <p:sp>
        <p:nvSpPr>
          <p:cNvPr id="22" name="Oval 21"/>
          <p:cNvSpPr/>
          <p:nvPr/>
        </p:nvSpPr>
        <p:spPr>
          <a:xfrm>
            <a:off x="6446520" y="248716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108960"/>
            <a:ext cx="694944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f2</a:t>
            </a:r>
          </a:p>
        </p:txBody>
      </p:sp>
      <p:sp>
        <p:nvSpPr>
          <p:cNvPr id="24" name="Oval 23"/>
          <p:cNvSpPr/>
          <p:nvPr/>
        </p:nvSpPr>
        <p:spPr>
          <a:xfrm>
            <a:off x="8321040" y="370332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4325112"/>
            <a:ext cx="694944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m1</a:t>
            </a:r>
          </a:p>
        </p:txBody>
      </p:sp>
      <p:sp>
        <p:nvSpPr>
          <p:cNvPr id="26" name="Oval 25"/>
          <p:cNvSpPr/>
          <p:nvPr/>
        </p:nvSpPr>
        <p:spPr>
          <a:xfrm>
            <a:off x="10058400" y="370332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4325112"/>
            <a:ext cx="694944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c6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06440" y="1810512"/>
            <a:ext cx="1572768" cy="47548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06440" y="1865376"/>
            <a:ext cx="1572768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feature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55480" y="2880360"/>
            <a:ext cx="1298448" cy="475488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55480" y="2935224"/>
            <a:ext cx="1298448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82127" y="4407408"/>
            <a:ext cx="1389888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merge commit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54680" y="5193792"/>
            <a:ext cx="5897880" cy="45720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64408" y="5257800"/>
            <a:ext cx="5678424" cy="3108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git log --oneline --graph --all --decorate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MERGE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Fast-Forward or Merge Commit?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1663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Fast-forward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Main has not diverged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Pointer advances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No new merge commit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Linear history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72784" y="1783080"/>
            <a:ext cx="51663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Three-way merge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Both lines have commits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Two parents are combined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New merge commit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Preserves divergence context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FETCH · PULL · PUSH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Local, Tracking and Remote Branches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94560"/>
            <a:ext cx="2743200" cy="19659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94560"/>
            <a:ext cx="274320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606040"/>
            <a:ext cx="237744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182112"/>
            <a:ext cx="2286000" cy="4754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Current local branch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194560"/>
            <a:ext cx="2743200" cy="19659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2194560"/>
            <a:ext cx="274320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606040"/>
            <a:ext cx="237744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origin/main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182112"/>
            <a:ext cx="2286000" cy="4754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Last fetched remote state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2194560"/>
            <a:ext cx="2743200" cy="19659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2194560"/>
            <a:ext cx="274320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606040"/>
            <a:ext cx="237744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GitHub main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182112"/>
            <a:ext cx="2286000" cy="4754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Current server branch</a:t>
            </a:r>
          </a:p>
        </p:txBody>
      </p:sp>
      <p:sp>
        <p:nvSpPr>
          <p:cNvPr id="22" name="Left Arrow 21"/>
          <p:cNvSpPr/>
          <p:nvPr/>
        </p:nvSpPr>
        <p:spPr>
          <a:xfrm>
            <a:off x="3593592" y="2862072"/>
            <a:ext cx="640080" cy="457200"/>
          </a:xfrm>
          <a:prstGeom prst="lef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56432" y="2542032"/>
            <a:ext cx="9144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git pull</a:t>
            </a:r>
          </a:p>
        </p:txBody>
      </p:sp>
      <p:sp>
        <p:nvSpPr>
          <p:cNvPr id="24" name="Left Arrow 23"/>
          <p:cNvSpPr/>
          <p:nvPr/>
        </p:nvSpPr>
        <p:spPr>
          <a:xfrm>
            <a:off x="7114032" y="2862072"/>
            <a:ext cx="640080" cy="457200"/>
          </a:xfrm>
          <a:prstGeom prst="lef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76872" y="2542032"/>
            <a:ext cx="9144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git fetch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965960" y="4498848"/>
            <a:ext cx="7909560" cy="438912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4553712"/>
            <a:ext cx="16459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git push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230368"/>
            <a:ext cx="103327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Fetch updates origin/main only. Pull fetches and integrates. Push publishes local commits to the remote branch.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SEPARATE OBSERVATION FROM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Fetch Before Pull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1663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git fetch origin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Downloads objects and refs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Updates origin/main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Leaves working files unchanged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Lets you inspect first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72784" y="1783080"/>
            <a:ext cx="51663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git pull --ff-only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Fetches remote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Integrates current branch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Rejects unexpected divergence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Changes local branch/files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-U CONNECTS LOCAL AND REMOTE BRANCHES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Publish a New Branch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21408"/>
            <a:ext cx="1933041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21408"/>
            <a:ext cx="1933041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6288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6288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493008"/>
            <a:ext cx="1603857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Create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0281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57169" y="2121408"/>
            <a:ext cx="1933041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57169" y="2121408"/>
            <a:ext cx="1933041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6217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6217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1761" y="3493008"/>
            <a:ext cx="1603857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Commit locally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0210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37098" y="2121408"/>
            <a:ext cx="1933041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37098" y="2121408"/>
            <a:ext cx="1933041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6146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6146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1690" y="3493008"/>
            <a:ext cx="1603857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 push -u origin &lt;branch&gt;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0139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7027" y="2121408"/>
            <a:ext cx="1933041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7027" y="2121408"/>
            <a:ext cx="1933041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6075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6075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1619" y="3493008"/>
            <a:ext cx="1603857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Verify upstream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0068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96956" y="2121408"/>
            <a:ext cx="1933041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96956" y="2121408"/>
            <a:ext cx="1933041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6004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6004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1548" y="3493008"/>
            <a:ext cx="1603857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pull request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CONFLICTS NEED A HUMAN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Resolve a Merge Conflict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14628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4628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 stops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6960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93848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3848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1236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31236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58440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 status identifies paths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3568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0456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0456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47844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7844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5048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Choose final content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0176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7064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7064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64452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64452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6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 add marks resolved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96784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3672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3672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81060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81060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08264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 commit completes merge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13392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60280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860280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97668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97668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24872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Push and verify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Arial"/>
              </a:rPr>
              <a:t>HEAD · INDEX · WORKING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Three Trees and What Reset Moves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3291840" cy="15727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329184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048256"/>
            <a:ext cx="2962656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7C3AED"/>
                </a:solidFill>
                <a:latin typeface="Arial"/>
              </a:rPr>
              <a:t>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487168"/>
            <a:ext cx="292608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commit you are 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17520"/>
            <a:ext cx="29260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Last committed snapshot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53128" y="1783080"/>
            <a:ext cx="3291840" cy="15727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53128" y="1783080"/>
            <a:ext cx="3291840" cy="10972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048256"/>
            <a:ext cx="2962656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B45309"/>
                </a:solidFill>
                <a:latin typeface="Arial"/>
              </a:rPr>
              <a:t>Index (staging)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2487168"/>
            <a:ext cx="292608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the next commit will contain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8" y="3017520"/>
            <a:ext cx="29260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Proposed snapshot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9016" y="1783080"/>
            <a:ext cx="3291840" cy="15727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29016" y="1783080"/>
            <a:ext cx="329184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3608" y="2048256"/>
            <a:ext cx="2962656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Working tree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2487168"/>
            <a:ext cx="292608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files on disk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3017520"/>
            <a:ext cx="292608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Editable snapshot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675887"/>
            <a:ext cx="10652760" cy="56692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3675887"/>
            <a:ext cx="82296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3694175"/>
            <a:ext cx="2788920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git reset --soft &lt;commit&gt;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3694175"/>
            <a:ext cx="1874519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Moves HEAD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3694175"/>
            <a:ext cx="5440680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Index and working tree keep your work; the change is still staged.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315968"/>
            <a:ext cx="10652760" cy="56692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4315968"/>
            <a:ext cx="82296" cy="56692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" y="4334255"/>
            <a:ext cx="2788920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Arial"/>
              </a:rPr>
              <a:t>git reset --mixed &lt;commit&gt;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4334255"/>
            <a:ext cx="1874519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Moves HEAD + index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4334255"/>
            <a:ext cx="5440680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Default. Work survives in the working tree but is unstaged.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4956048"/>
            <a:ext cx="10652760" cy="56692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" y="4956048"/>
            <a:ext cx="82296" cy="5669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9264" y="4974336"/>
            <a:ext cx="2788920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git reset --hard &lt;commit&gt;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4974336"/>
            <a:ext cx="1874519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Moves all three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6440" y="4974336"/>
            <a:ext cx="5440680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Destructive: uncommitted work is discarded. Recover via reflog.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5596128"/>
            <a:ext cx="10652760" cy="56692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596128"/>
            <a:ext cx="82296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9264" y="5614416"/>
            <a:ext cx="2788920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git restore &lt;file&gt;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5614416"/>
            <a:ext cx="1874519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Working tree only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06440" y="5614416"/>
            <a:ext cx="5440680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Discards one file's unstaged edit; history and index untouched.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SAME WORK · TWO DIFFERENT GRAPHS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Merge Keeps History; Rebase Rewrites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166360" cy="303580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1663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93392"/>
            <a:ext cx="4663440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git merge feature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81328" y="3538728"/>
            <a:ext cx="393191" cy="0"/>
          </a:xfrm>
          <a:prstGeom prst="line">
            <a:avLst/>
          </a:prstGeom>
          <a:ln w="317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258567" y="3538728"/>
            <a:ext cx="1965961" cy="0"/>
          </a:xfrm>
          <a:prstGeom prst="line">
            <a:avLst/>
          </a:prstGeom>
          <a:ln w="317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608576" y="3538728"/>
            <a:ext cx="420624" cy="0"/>
          </a:xfrm>
          <a:prstGeom prst="line">
            <a:avLst/>
          </a:prstGeom>
          <a:ln w="317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258568" y="2889504"/>
            <a:ext cx="438912" cy="649224"/>
          </a:xfrm>
          <a:prstGeom prst="line">
            <a:avLst/>
          </a:prstGeom>
          <a:ln w="317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081528" y="2889504"/>
            <a:ext cx="1143000" cy="649224"/>
          </a:xfrm>
          <a:prstGeom prst="line">
            <a:avLst/>
          </a:prstGeom>
          <a:ln w="317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097280" y="334670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3749040"/>
            <a:ext cx="676656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c1</a:t>
            </a:r>
          </a:p>
        </p:txBody>
      </p:sp>
      <p:sp>
        <p:nvSpPr>
          <p:cNvPr id="20" name="Oval 19"/>
          <p:cNvSpPr/>
          <p:nvPr/>
        </p:nvSpPr>
        <p:spPr>
          <a:xfrm>
            <a:off x="1874519" y="334670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28215" y="3749040"/>
            <a:ext cx="676656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c2</a:t>
            </a:r>
          </a:p>
        </p:txBody>
      </p:sp>
      <p:sp>
        <p:nvSpPr>
          <p:cNvPr id="22" name="Oval 21"/>
          <p:cNvSpPr/>
          <p:nvPr/>
        </p:nvSpPr>
        <p:spPr>
          <a:xfrm>
            <a:off x="4224528" y="3346704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78224" y="3749040"/>
            <a:ext cx="676656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merge</a:t>
            </a:r>
          </a:p>
        </p:txBody>
      </p:sp>
      <p:sp>
        <p:nvSpPr>
          <p:cNvPr id="24" name="Oval 23"/>
          <p:cNvSpPr/>
          <p:nvPr/>
        </p:nvSpPr>
        <p:spPr>
          <a:xfrm>
            <a:off x="5029200" y="334670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82896" y="3749040"/>
            <a:ext cx="676656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c4</a:t>
            </a:r>
          </a:p>
        </p:txBody>
      </p:sp>
      <p:sp>
        <p:nvSpPr>
          <p:cNvPr id="26" name="Oval 25"/>
          <p:cNvSpPr/>
          <p:nvPr/>
        </p:nvSpPr>
        <p:spPr>
          <a:xfrm>
            <a:off x="2697480" y="269748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51176" y="3099816"/>
            <a:ext cx="676656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f1</a:t>
            </a:r>
          </a:p>
        </p:txBody>
      </p:sp>
      <p:sp>
        <p:nvSpPr>
          <p:cNvPr id="28" name="Oval 27"/>
          <p:cNvSpPr/>
          <p:nvPr/>
        </p:nvSpPr>
        <p:spPr>
          <a:xfrm>
            <a:off x="3456432" y="269748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10128" y="3099816"/>
            <a:ext cx="676656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f2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081528" y="2889504"/>
            <a:ext cx="374904" cy="0"/>
          </a:xfrm>
          <a:prstGeom prst="line">
            <a:avLst/>
          </a:prstGeom>
          <a:ln w="317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24128" y="4114800"/>
            <a:ext cx="466344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Both lines survive. The merge commit has two parents and records when and by whom the branches were joined.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72784" y="1783080"/>
            <a:ext cx="5157216" cy="303580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72784" y="1783080"/>
            <a:ext cx="5157216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9672" y="1993392"/>
            <a:ext cx="4663440" cy="3474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git rebase main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013448" y="3264408"/>
            <a:ext cx="484631" cy="0"/>
          </a:xfrm>
          <a:prstGeom prst="line">
            <a:avLst/>
          </a:prstGeom>
          <a:ln w="317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882127" y="3264408"/>
            <a:ext cx="484633" cy="0"/>
          </a:xfrm>
          <a:prstGeom prst="line">
            <a:avLst/>
          </a:prstGeom>
          <a:ln w="317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750808" y="3264408"/>
            <a:ext cx="484632" cy="0"/>
          </a:xfrm>
          <a:prstGeom prst="line">
            <a:avLst/>
          </a:prstGeom>
          <a:ln w="317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619488" y="3264408"/>
            <a:ext cx="484632" cy="0"/>
          </a:xfrm>
          <a:prstGeom prst="line">
            <a:avLst/>
          </a:prstGeom>
          <a:ln w="317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629400" y="307238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83096" y="3474720"/>
            <a:ext cx="676656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c1</a:t>
            </a:r>
          </a:p>
        </p:txBody>
      </p:sp>
      <p:sp>
        <p:nvSpPr>
          <p:cNvPr id="41" name="Oval 40"/>
          <p:cNvSpPr/>
          <p:nvPr/>
        </p:nvSpPr>
        <p:spPr>
          <a:xfrm>
            <a:off x="7498079" y="307238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51775" y="3474720"/>
            <a:ext cx="676656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c2</a:t>
            </a:r>
          </a:p>
        </p:txBody>
      </p:sp>
      <p:sp>
        <p:nvSpPr>
          <p:cNvPr id="43" name="Oval 42"/>
          <p:cNvSpPr/>
          <p:nvPr/>
        </p:nvSpPr>
        <p:spPr>
          <a:xfrm>
            <a:off x="8366760" y="3072384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0456" y="3474720"/>
            <a:ext cx="676656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c4</a:t>
            </a:r>
          </a:p>
        </p:txBody>
      </p:sp>
      <p:sp>
        <p:nvSpPr>
          <p:cNvPr id="45" name="Oval 44"/>
          <p:cNvSpPr/>
          <p:nvPr/>
        </p:nvSpPr>
        <p:spPr>
          <a:xfrm>
            <a:off x="9235440" y="3072384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89136" y="3474720"/>
            <a:ext cx="676656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f1'</a:t>
            </a:r>
          </a:p>
        </p:txBody>
      </p:sp>
      <p:sp>
        <p:nvSpPr>
          <p:cNvPr id="47" name="Oval 46"/>
          <p:cNvSpPr/>
          <p:nvPr/>
        </p:nvSpPr>
        <p:spPr>
          <a:xfrm>
            <a:off x="10104120" y="3072384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57816" y="3474720"/>
            <a:ext cx="676656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f2'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19672" y="4114800"/>
            <a:ext cx="466344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Linear history. f1 and f2 are replayed as new commits with new SHAs, so the originals no longer exist.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7240" y="4956048"/>
            <a:ext cx="10652760" cy="960120"/>
          </a:xfrm>
          <a:prstGeom prst="roundRect">
            <a:avLst/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77240" y="4956048"/>
            <a:ext cx="91440" cy="9601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60704" y="5074920"/>
            <a:ext cx="101498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Golden rule: never rebase commits that others have already pulled.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Rebase your own unpushed branch to tidy it before review; merge when the branch is shared. Squash-and-merge on GitHub gives a linear main without rewriting anyone's local history.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HEAD POINTS AT A COMMIT, NOT A BRANCH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Detached HEAD: What It Is and How to Recover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166360" cy="221284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1663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93392"/>
            <a:ext cx="46177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Attached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65960" y="3163824"/>
            <a:ext cx="960120" cy="0"/>
          </a:xfrm>
          <a:prstGeom prst="line">
            <a:avLst/>
          </a:prstGeom>
          <a:ln w="317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337560" y="3163824"/>
            <a:ext cx="960120" cy="0"/>
          </a:xfrm>
          <a:prstGeom prst="line">
            <a:avLst/>
          </a:prstGeom>
          <a:ln w="317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554480" y="2962656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3419856"/>
            <a:ext cx="68580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c1</a:t>
            </a:r>
          </a:p>
        </p:txBody>
      </p:sp>
      <p:sp>
        <p:nvSpPr>
          <p:cNvPr id="17" name="Oval 16"/>
          <p:cNvSpPr/>
          <p:nvPr/>
        </p:nvSpPr>
        <p:spPr>
          <a:xfrm>
            <a:off x="2926080" y="2962656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8920" y="3419856"/>
            <a:ext cx="68580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c2</a:t>
            </a:r>
          </a:p>
        </p:txBody>
      </p:sp>
      <p:sp>
        <p:nvSpPr>
          <p:cNvPr id="19" name="Oval 18"/>
          <p:cNvSpPr/>
          <p:nvPr/>
        </p:nvSpPr>
        <p:spPr>
          <a:xfrm>
            <a:off x="4297680" y="2962656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0520" y="3419856"/>
            <a:ext cx="68580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c3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0" y="2432304"/>
            <a:ext cx="960120" cy="38404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0" y="2478024"/>
            <a:ext cx="9601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HEAD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" y="3602736"/>
            <a:ext cx="4617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HEAD → main → c3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2784" y="1783080"/>
            <a:ext cx="5166360" cy="221284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72784" y="1783080"/>
            <a:ext cx="5166360" cy="1097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28816" y="1993392"/>
            <a:ext cx="46177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DC2626"/>
                </a:solidFill>
                <a:latin typeface="Arial"/>
              </a:rPr>
              <a:t>Detached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461504" y="3163824"/>
            <a:ext cx="960120" cy="0"/>
          </a:xfrm>
          <a:prstGeom prst="line">
            <a:avLst/>
          </a:prstGeom>
          <a:ln w="317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833104" y="3163824"/>
            <a:ext cx="960120" cy="0"/>
          </a:xfrm>
          <a:prstGeom prst="line">
            <a:avLst/>
          </a:prstGeom>
          <a:ln w="317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7050024" y="2962656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12864" y="3419856"/>
            <a:ext cx="68580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c1</a:t>
            </a:r>
          </a:p>
        </p:txBody>
      </p:sp>
      <p:sp>
        <p:nvSpPr>
          <p:cNvPr id="31" name="Oval 30"/>
          <p:cNvSpPr/>
          <p:nvPr/>
        </p:nvSpPr>
        <p:spPr>
          <a:xfrm>
            <a:off x="8421624" y="2962656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3419856"/>
            <a:ext cx="68580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c2</a:t>
            </a:r>
          </a:p>
        </p:txBody>
      </p:sp>
      <p:sp>
        <p:nvSpPr>
          <p:cNvPr id="33" name="Oval 32"/>
          <p:cNvSpPr/>
          <p:nvPr/>
        </p:nvSpPr>
        <p:spPr>
          <a:xfrm>
            <a:off x="9793224" y="2962656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56064" y="3419856"/>
            <a:ext cx="68580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c3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47304" y="2432304"/>
            <a:ext cx="960120" cy="384048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47304" y="2478024"/>
            <a:ext cx="9601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HEAD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8816" y="3602736"/>
            <a:ext cx="4617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HEAD → c2 directly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4169663"/>
            <a:ext cx="10652760" cy="4572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4187951"/>
            <a:ext cx="265176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How you get there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03320" y="4187951"/>
            <a:ext cx="754380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git switch &lt;sha&gt;, git checkout &lt;tag&gt;, or opening a commit from a bisect or a CI checkout.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" y="4690872"/>
            <a:ext cx="10652760" cy="4572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4709159"/>
            <a:ext cx="265176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Why it matters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03320" y="4709159"/>
            <a:ext cx="754380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New commits belong to no branch. Switching away leaves them unreferenced and eventually collectable.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" y="5212080"/>
            <a:ext cx="10652760" cy="4572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5230368"/>
            <a:ext cx="265176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Keep the work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03320" y="5230368"/>
            <a:ext cx="754380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git switch -c rescue — names the current commit so it is safe.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" y="5733288"/>
            <a:ext cx="10652760" cy="4572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840" y="5751576"/>
            <a:ext cx="265176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Already switched away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03320" y="5751576"/>
            <a:ext cx="7543800" cy="4206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git reflog finds the SHA, then git switch -c rescue &lt;sha&gt; restores it.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THE DECIDING QUESTION IS SHARING, NOT SEVERITY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Reset or Revert? Decide by Who Has Seen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1663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git reset — local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Rewrites which commit the branch points 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The old commits leave the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Fine on an unpushed local branch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Needs a force push if already shared — avoid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5321807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05</a:t>
            </a:r>
            <a:r>
              <a:rPr sz="1400" b="0">
                <a:solidFill>
                  <a:srgbClr val="161B26"/>
                </a:solidFill>
                <a:latin typeface="Arial"/>
              </a:rPr>
              <a:t>  reflog is the safety net if you go too far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2784" y="1783080"/>
            <a:ext cx="51663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git revert — safe when shared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Adds a new commit that undoes an earlier 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Nothing is rewritten; both commits remain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Colleagues pull it like any other commit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The audit trail shows what was undone and why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5321807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05</a:t>
            </a:r>
            <a:r>
              <a:rPr sz="1400" b="0">
                <a:solidFill>
                  <a:srgbClr val="161B26"/>
                </a:solidFill>
                <a:latin typeface="Arial"/>
              </a:rPr>
              <a:t>  The correct choice for anything already on main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Arial"/>
              </a:rPr>
              <a:t>A CLEAN TREE WITHOUT AN UNFINISHED COMMIT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Park Work in Progress with git stash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Why stash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 urgent fix arrives while your tree is dirty and you need a clean branch now.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3504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3504" y="1755648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9536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Park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9536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 stash push -m "wip" saves tracked modifications and restores a clean tree.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9768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9768" y="1755648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Include untracked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 stash push -u also parks new files that Git is not yet tracking.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69080"/>
            <a:ext cx="91440" cy="20939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Arial"/>
              </a:rPr>
              <a:t>See what you have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 stash list shows entries newest-first as stash@{0}, stash@{1} and so 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3504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13504" y="4069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9536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Bring it 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9536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 stash pop reapplies the newest entry and drops it; apply keeps it stored.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9768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9768" y="4069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5800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Caution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5800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stash is local and never pushed. It is a short-lived parking space, not a backup.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TAGS NAME A COMMIT; RELEASES ADD NOTES AND ASSETS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Annotated or Lightweight Tag?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1663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Annotated — use for releases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git tag -a v1.0.0 -m "Release 1.0.0"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A real Git object with tagger, date and message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Can be signed and 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What GitHub Releases are built from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5321807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05</a:t>
            </a:r>
            <a:r>
              <a:rPr sz="1400" b="0">
                <a:solidFill>
                  <a:srgbClr val="161B26"/>
                </a:solidFill>
                <a:latin typeface="Arial"/>
              </a:rPr>
              <a:t>  Push explicitly: git push origin --tags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2784" y="1783080"/>
            <a:ext cx="51663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Lightweight — a private bookmark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git tag v1.0.0-light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Just a name pointing at a commit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No author, date or message is stored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Fine for a temporary local marker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5321807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05</a:t>
            </a:r>
            <a:r>
              <a:rPr sz="1400" b="0">
                <a:solidFill>
                  <a:srgbClr val="161B26"/>
                </a:solidFill>
                <a:latin typeface="Arial"/>
              </a:rPr>
              <a:t>  Not appropriate for a published release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SURGICAL CHANGES TO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Move or Repair Single Commits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git cherry-pick &lt;sha&gt;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Copies one commit's change onto the current branch as a new commit with a new SHA.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3504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3504" y="1755648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9536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When to cherry-pick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9536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Backport one fix to a release branch when merging the whole branch would bring unwanted work.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9768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9768" y="1755648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git commit --amend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Replaces the newest commit — message, content or both — producing a different SHA.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69080"/>
            <a:ext cx="91440" cy="20939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Arial"/>
              </a:rPr>
              <a:t>Amend safely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Only before pushing. Amending shared history forces everyone else to reconcile a rewritten commit.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3504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13504" y="4069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9536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Duplicate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9536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Cherry-picking and then merging the same branch can present the change twice; prefer one route.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9768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9768" y="4069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5800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Verify after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5800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 log --oneline and git show confirm what actually landed before you push.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ALMOST NOTHING IS TRULY LOST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git reflog Is the Safety Net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it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Every position HEAD has held locally — commits, switches, merges, resets and rebases.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3504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3504" y="1755648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9536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Why it saves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9536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reset --hard or a lost detached commit is still listed with its SHA for about 90 days.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9768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9768" y="1755648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Read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 reflog prints entries as HEAD@{0}, HEAD@{1} with the action that moved HEAD.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69080"/>
            <a:ext cx="91440" cy="20939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Arial"/>
              </a:rPr>
              <a:t>Recover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 switch -c rescue &lt;sha&gt; names the lost commit so it can never be collected.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3504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13504" y="4069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9536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Local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9536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reflog is never pushed or cloned — it protects your machine, not the team.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9768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9768" y="4069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5800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Discipline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5800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Note the current SHA before a destructive command; verify with git log afterwards.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IGNORE EARLY; UNTRACK EXPLICITLY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.gitignore Mechanics and Its One Trap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1663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Pattern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One pattern per line; blank lines and # comments are ignored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build/ ignores a directory; *.log ignores an extension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A leading / anchors the pattern to the repository root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A leading ! re-includes a previously excluded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5321807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05</a:t>
            </a:r>
            <a:r>
              <a:rPr sz="1400" b="0">
                <a:solidFill>
                  <a:srgbClr val="161B26"/>
                </a:solidFill>
                <a:latin typeface="Arial"/>
              </a:rPr>
              <a:t>  Language templates live at github.com/github/gitignore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2784" y="1783080"/>
            <a:ext cx="51663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The trap: already-tracked 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gitignore only affects files Git is not yet tracking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A committed secret or build artefact keeps being committed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git rm --cached &lt;file&gt; untracks it while keeping it on disk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Commit that removal and the ignore rule finally applies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5321807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05</a:t>
            </a:r>
            <a:r>
              <a:rPr sz="1400" b="0">
                <a:solidFill>
                  <a:srgbClr val="161B26"/>
                </a:solidFill>
                <a:latin typeface="Arial"/>
              </a:rPr>
              <a:t>  A leaked secret is still in history — revoke and rotate it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FIND THE COMMIT THAT EXPLAINS THE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Investigate History: log Filters and blame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git log --since="2 weeks"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Limit history to a time window; combine with --until for a closed range.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3504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3504" y="1755648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9536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git log --author=&lt;name&gt;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9536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Show only one contributor's commits when tracing a change.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9768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9768" y="1755648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git log -- &lt;path&gt;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Show only the commits that touched one file or directory.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69080"/>
            <a:ext cx="91440" cy="20939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Arial"/>
              </a:rPr>
              <a:t>git log -S"&lt;text&gt;"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Pickaxe search: find the commit that introduced or removed a string.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3504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13504" y="4069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9536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git blame &lt;file&gt;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9536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Annotate every line with the commit, author and date that last changed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9768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9768" y="4069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5800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Blame on GitHub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5800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web Blame view adds per-line history navigation and links to each pull request.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3: Practice Status, Diff, Add, Commit and Log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28800"/>
            <a:ext cx="6583680" cy="98755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1993392"/>
            <a:ext cx="6089904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repository needs small, reviewable commits rather than one uncontrolled upload.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054096"/>
            <a:ext cx="6583680" cy="23408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273552"/>
            <a:ext cx="60350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YOU WILL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675887"/>
            <a:ext cx="598932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A three-commit repository history with selective staging, clear messages and command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4901184"/>
            <a:ext cx="59893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Git Bash or terminal, GitHub Desktop, text editor, GitHub.com, Excel command workbook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62672" y="1828800"/>
            <a:ext cx="3767328" cy="35661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2148840"/>
            <a:ext cx="31546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706624"/>
            <a:ext cx="3154680" cy="22494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Excel workbook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Action log · URLs · screenshots · status · reflection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Detailed procedures are in the Learner Guide and lab folder.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3 · SEE LG FOR PROCEDURES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 Workflow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68221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68221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Inspect status and diff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9554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90722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90722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1703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1703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8738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Stage files or selected hunks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3036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4204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04204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95185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95185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2220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Commit focused snapshots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16518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17686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17686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08667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08667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5702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Push and verify history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3566160"/>
            <a:ext cx="1065276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ACCEPTANCE CRITERIA — THE LAB IS COMPLETE ONLY WHEN EVERY ITEM IS EVIDENCED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39502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39502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" y="39684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39684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Three focused commits exist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46360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" y="46360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" y="46542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46542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Staged content was reviewed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" y="53218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" y="53218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8408" y="53400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25880" y="53400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Amend and stash effects are evidenced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99632" y="39502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99632" y="39502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39684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48272" y="39684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History matches locally and remotely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99632" y="46360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99632" y="46360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46542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48272" y="46542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Command log records actual outputs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4: Create Branches and Merge Changes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28800"/>
            <a:ext cx="6583680" cy="98755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1993392"/>
            <a:ext cx="6089904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navigation improvement must be developed without destabilising the main branch.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054096"/>
            <a:ext cx="6583680" cy="23408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273552"/>
            <a:ext cx="60350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YOU WILL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675887"/>
            <a:ext cx="598932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A feature branch, separate commit history, local merge, annotated release tag and readable commit 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4901184"/>
            <a:ext cx="59893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Git Bash or terminal, GitHub Desktop branch visualisation, GitHub Releases, Excel evidence workbook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62672" y="1828800"/>
            <a:ext cx="3767328" cy="35661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2148840"/>
            <a:ext cx="31546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706624"/>
            <a:ext cx="3154680" cy="22494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Excel workbook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Action log · URLs · screenshots · status · reflection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Detailed procedures are in the Learner Guide and lab folder.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4 · SEE LG FOR PROCEDURES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4 Workflow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68221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68221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Create and switch feature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9554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90722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90722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1703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1703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8738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Make two feature commits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3036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4204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04204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95185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95185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2220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Switch to main and merge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16518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17686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17686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08667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08667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5702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Tag the release and inspect the graph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3566160"/>
            <a:ext cx="1065276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ACCEPTANCE CRITERIA — THE LAB IS COMPLETE ONLY WHEN EVERY ITEM IS EVIDENCED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39502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39502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" y="39684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39684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Feature work is isolated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46360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" y="46360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" y="46542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46542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Merge result is explained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" y="53218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" y="53218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8408" y="53400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25880" y="53400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Rebase safety rule is recorded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99632" y="39502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99632" y="39502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39684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48272" y="39684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Annotated tag exists locally and on GitHub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99632" y="46360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99632" y="46360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46542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48272" y="46542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Merged branch is safely deleted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5: Synchronise with Fetch, Pull and Push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28800"/>
            <a:ext cx="6583680" cy="98755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1993392"/>
            <a:ext cx="6089904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teammate changed the remote README while the learner was working locally.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054096"/>
            <a:ext cx="6583680" cy="23408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273552"/>
            <a:ext cx="60350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YOU WILL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675887"/>
            <a:ext cx="598932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A synchronised local and remote repository with tracking-branch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4901184"/>
            <a:ext cx="59893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Git Bash or terminal, GitHub.com, GitHub Desktop Fetch/Pull/Push controls, Excel workbook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62672" y="1828800"/>
            <a:ext cx="3767328" cy="35661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2148840"/>
            <a:ext cx="31546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706624"/>
            <a:ext cx="3154680" cy="22494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Excel workbook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Action log · URLs · screenshots · status · reflection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Detailed procedures are in the Learner Guide and lab folder.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5 · SEE LG FOR PROCEDURES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Workflow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68221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68221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Simulate a remote commit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9554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90722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90722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1703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1703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8738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Fetch and inspect origin/main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3036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4204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04204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95185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95185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2220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Pull with fast-forward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16518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17686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17686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08667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08667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5702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Push a branch and verify tracking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3566160"/>
            <a:ext cx="1065276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ACCEPTANCE CRITERIA — THE LAB IS COMPLETE ONLY WHEN EVERY ITEM IS EVIDENCED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39502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39502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" y="39684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39684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Fetch is distinguished from pull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46360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" y="46360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" y="46542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46542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Incoming commit is inspected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9632" y="39502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99632" y="39502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39684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48272" y="39684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Upstream tracking is verified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99632" y="46360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99632" y="46360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46542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48272" y="46542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Local and remote histories match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6: Resolve a Merge Conflict and Recover Safely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28800"/>
            <a:ext cx="6583680" cy="98755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1993392"/>
            <a:ext cx="6089904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Two contributors changed the same README sentence and Git cannot decide which version to keep.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054096"/>
            <a:ext cx="6583680" cy="23408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273552"/>
            <a:ext cx="60350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YOU WILL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675887"/>
            <a:ext cx="598932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A resolved merge conflict plus a tested restore, unstage, reset, revert and reflog recovery decision 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4901184"/>
            <a:ext cx="59893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Git Bash or terminal, GitHub.com, GitHub Desktop conflict helper, text editor, Excel workbook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62672" y="1828800"/>
            <a:ext cx="3767328" cy="35661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2148840"/>
            <a:ext cx="31546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706624"/>
            <a:ext cx="3154680" cy="22494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Excel workbook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Action log · URLs · screenshots · status · reflection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Detailed procedures are in the Learner Guide and lab folder.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6 · SEE LG FOR PROCEDURES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6 Workflow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68221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68221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Create overlapping local and remote edits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9554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90722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90722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1703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1703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8738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Pull to trigger the conflict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3036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4204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04204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95185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95185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2220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Resolve, add and commit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16518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17686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17686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08667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08667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5702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Practise reset, revert and reflog 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3566160"/>
            <a:ext cx="1065276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ACCEPTANCE CRITERIA — THE LAB IS COMPLETE ONLY WHEN EVERY ITEM IS EVIDENCED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39502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39502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" y="39684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39684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Conflict markers are removed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46360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" y="46360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" y="46542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46542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Merge completes without lost history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" y="53218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" y="53218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8408" y="53400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25880" y="53400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Reset variants are distinguished by effect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99632" y="39502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99632" y="39502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39684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48272" y="39684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discarded commit is recovered via reflog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99632" y="46360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99632" y="46360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46542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48272" y="46542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Resolution and revert are evidenced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Domain 02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975104"/>
            <a:ext cx="10561320" cy="32552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2359152"/>
            <a:ext cx="982980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Can you explain what makes a GitHub repository healthy, maintainable and trustworthy?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6512"/>
            <a:ext cx="973836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Exam readiness comes from recognising the purpose, trade-off and best-fit feature in a scenario.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6384" y="2121408"/>
            <a:ext cx="128016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2084831"/>
            <a:ext cx="98755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DOMAIN 03 · 10–15%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2606040"/>
            <a:ext cx="9966960" cy="12984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Collaborate Using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096512"/>
            <a:ext cx="97840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Issues · pull requests · discussions · notifications · Pages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603504"/>
            <a:ext cx="2971800" cy="1325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68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EXAM WEIGHTING 10–15%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Collaborate Using GitHub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11096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Choose the right object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Issue for tracked work, discussion for conversation, PR for proposed change.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755648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1636" y="1755648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7668" y="1911096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Traceability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7668" y="2377440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Closing keywords link PRs to issues and preserve decision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297936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297936"/>
            <a:ext cx="91440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453384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" y="3919728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Comments, suggestions, approvals and required reviewers protect quality.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3297936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297936"/>
            <a:ext cx="91440" cy="13228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453384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Arial"/>
              </a:rPr>
              <a:t>Triage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7668" y="3919728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Labels, assignments, filters, templates and notifications keep work actionable.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840224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40224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" y="4995672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Share knowledge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" y="5462016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Gists, Wikis and Pages publish snippets, documentation and sites.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1636" y="4840224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1636" y="4840224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7668" y="4995672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Fork workflow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7668" y="5462016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Fork, branch, change and upstream PR enable external contribution.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COLLABORATION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Issue, Discussion or Pull Request?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1663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Conversation and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Issue: track actionable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Discussion: ask, share and decide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Notification: route attention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Milestone: group an outcome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72784" y="1783080"/>
            <a:ext cx="51663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Proposed 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PR compares branches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Review comments preserve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Checks provide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Merge records the decision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END-TO-END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Traceable 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21408"/>
            <a:ext cx="1933041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21408"/>
            <a:ext cx="1933041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6288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6288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493008"/>
            <a:ext cx="1603857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Issue defines 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0281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57169" y="2121408"/>
            <a:ext cx="1933041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57169" y="2121408"/>
            <a:ext cx="1933041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6217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6217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1761" y="3493008"/>
            <a:ext cx="1603857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Branch isolates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0210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37098" y="2121408"/>
            <a:ext cx="1933041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37098" y="2121408"/>
            <a:ext cx="1933041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6146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6146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1690" y="3493008"/>
            <a:ext cx="1603857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 uses closing keyword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0139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7027" y="2121408"/>
            <a:ext cx="1933041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7027" y="2121408"/>
            <a:ext cx="1933041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6075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6075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1619" y="3493008"/>
            <a:ext cx="1603857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Review improves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0068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96956" y="2121408"/>
            <a:ext cx="1933041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96956" y="2121408"/>
            <a:ext cx="1933041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6004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6004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1548" y="3493008"/>
            <a:ext cx="1603857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Merge closes issue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LOCAL HISTORY BECOMES COLLABORATIVE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Commands to Pull Request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14628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4628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 switch -c &lt;branch&gt;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6960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93848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3848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1236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31236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58440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 add + git commit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3568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0456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0456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47844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7844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5048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 push -u origin &lt;branch&gt;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0176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7064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7064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64452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64452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6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linked PR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96784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3672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3672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81060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81060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08264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Review + required checks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13392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60280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860280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97668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97668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24872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Merge PR, then pull main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KNOWLEDGE SHARING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Share Beyond the Repository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Gist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Share a small versioned snippet.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3504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3504" y="1755648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9536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Wiki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9536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Maintain deeper repository documentation.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9768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9768" y="1755648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Pages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Publish a static site from a repository.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69080"/>
            <a:ext cx="91440" cy="20939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Arial"/>
              </a:rPr>
              <a:t>Notifications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Subscribe at the right level.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3504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13504" y="4069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9536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Templates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9536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Capture consistent issue or PR context.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9768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9768" y="4069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5800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Fork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5800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Contribute without direct write access.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ATTENTION IS THE SCARCE RESOURCE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Notifications and Subscriptions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1663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What you can subscribe 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A single conversation in an issue, PR or gist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CI activity such as Actions workflow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Repository events: issues, PRs, releases, security alerts, discussions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All activity in a repository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5321807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05</a:t>
            </a:r>
            <a:r>
              <a:rPr sz="1400" b="0">
                <a:solidFill>
                  <a:srgbClr val="161B26"/>
                </a:solidFill>
                <a:latin typeface="Arial"/>
              </a:rPr>
              <a:t>  A team you belong to, via @org/team mentions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2784" y="1783080"/>
            <a:ext cx="51663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Choosing the right level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All activity: only for repositories you maintain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Participating and @mentions: the sustainable default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Custom: pick releases or security alerts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Ignore: silence a noisy repository entirely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5321807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05</a:t>
            </a:r>
            <a:r>
              <a:rPr sz="1400" b="0">
                <a:solidFill>
                  <a:srgbClr val="161B26"/>
                </a:solidFill>
                <a:latin typeface="Arial"/>
              </a:rPr>
              <a:t>  Review the inbox filters before adding more subscriptions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AUTOLINKED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Cross-Linking Builds Context Automatically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Issue 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#123 in any comment links that issue or pull request in the same repository.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3504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3504" y="1755648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9536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Across repositories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9536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owner/repo#123 links an item in another repository, including a branch reference.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9768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9768" y="1755648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Commit references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Pasting seven or more characters of a commit SHA autolinks to that commit.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69080"/>
            <a:ext cx="91440" cy="20939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Arial"/>
              </a:rPr>
              <a:t>Closing keywords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Closes, Fixes or Resolves #123 in a PR body closes the issue when the PR merges.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3504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13504" y="4069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9536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Automatic links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9536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Opening a PR from a branch links its commits without any manual action.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9768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9768" y="4069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5800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Manual links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5800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PR sidebar links issues and projects that the text did not mention.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TWO SEARCH BOXES, TWO PURPOSES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Find Things: Global vs Context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1663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Global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Search box at the top of every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Spans all of GitHub — code, issues, users, Marketplace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Full search syntax with qualifiers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Best for discovery across many repositories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5321807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05</a:t>
            </a:r>
            <a:r>
              <a:rPr sz="1400" b="0">
                <a:solidFill>
                  <a:srgbClr val="161B26"/>
                </a:solidFill>
                <a:latin typeface="Arial"/>
              </a:rPr>
              <a:t>  Example: language:python topic:devops stars:&gt;100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2784" y="1783080"/>
            <a:ext cx="51663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Context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The search box inside a repository tab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Scoped to that repository and that item 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Suggests authors, labels, milestones and projects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Best for triage inside a project you know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5321807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05</a:t>
            </a:r>
            <a:r>
              <a:rPr sz="1400" b="0">
                <a:solidFill>
                  <a:srgbClr val="161B26"/>
                </a:solidFill>
                <a:latin typeface="Arial"/>
              </a:rPr>
              <a:t>  Example: is:issue is:open label:bug assignee:@me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Arial"/>
              </a:rPr>
              <a:t>TRIAGE IS A REPEATABLE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Respond Consistently at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Saved replies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Store a standard response once and insert it with /saved-replies or the reply menu.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3504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3504" y="1755648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9536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Issue templates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9536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Give reporters a structured form so triage does not start with a question.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9768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9768" y="1755648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PR templates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Prompt every author for verification evidence and linked issues.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69080"/>
            <a:ext cx="91440" cy="20939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Arial"/>
              </a:rPr>
              <a:t>Labels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Encode type, priority and status so filters and automation can act on them.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3504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13504" y="4069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9536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@mentions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9536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Pull a specific person or @org/team into a thread and leave a record of who was asked.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9768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9768" y="4069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5800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Code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5800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Comments, suggested changes and required reviewers turn feedback into commits.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7: Open a Pull Request and Complete Code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28800"/>
            <a:ext cx="6583680" cy="98755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1993392"/>
            <a:ext cx="6089904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learner onboarding checklist requires peer review and issue traceability before release.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054096"/>
            <a:ext cx="6583680" cy="23408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273552"/>
            <a:ext cx="60350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YOU WILL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675887"/>
            <a:ext cx="598932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A linked issue, pushed branch, reviewed pull request, controlled merge and local clean-up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4901184"/>
            <a:ext cx="59893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Git Bash, GitHub pull requests, GitHub Desktop, Excel evidence workbook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62672" y="1828800"/>
            <a:ext cx="3767328" cy="35661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2148840"/>
            <a:ext cx="31546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706624"/>
            <a:ext cx="3154680" cy="22494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Excel workbook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Action log · URLs · screenshots · status · reflection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Detailed procedures are in the Learner Guide and lab folder.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7 · SEE LG FOR PROCEDURES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7 Workflow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68221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68221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Create issue and feature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9554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90722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90722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1703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1703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8738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Commit and push with upstream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3036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4204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04204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95185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95185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2220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Open linked PR and complete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16518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17686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17686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08667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08667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5702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Merge, pull main and clean 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3566160"/>
            <a:ext cx="1065276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ACCEPTANCE CRITERIA — THE LAB IS COMPLETE ONLY WHEN EVERY ITEM IS EVIDENCED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39502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39502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" y="39684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39684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 links to issue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46360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" y="46360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" y="46542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46542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changes the branch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9632" y="39502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99632" y="39502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39684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48272" y="39684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Main is refreshed locally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99632" y="46360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99632" y="46360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46542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48272" y="46542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Both branch copies are cleaned up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8: Coordinate Work with Issues, Discussions and Pages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28800"/>
            <a:ext cx="6583680" cy="98755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1993392"/>
            <a:ext cx="6089904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Northstar needs structured bug intake, a Q&amp;A area and a lightweight project site.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054096"/>
            <a:ext cx="6583680" cy="23408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273552"/>
            <a:ext cx="60350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YOU WILL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675887"/>
            <a:ext cx="598932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Issue form, triaged and cross-linked issue, Q&amp;A discussion, notification plan and GitHub Pages 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4901184"/>
            <a:ext cx="59893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Issues, Discussions, GitHub-Flavored Markdown, notifications, Gists, Wikis, GitHub Pages, Excel workbook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62672" y="1828800"/>
            <a:ext cx="3767328" cy="35661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2148840"/>
            <a:ext cx="31546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706624"/>
            <a:ext cx="3154680" cy="22494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Excel workbook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Action log · URLs · screenshots · status · reflection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Detailed procedures are in the Learner Guide and lab folder.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8 · SEE LG FOR PROCEDURES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8 Workflow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68221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68221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Create labels and templates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9554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90722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90722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1703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1703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8738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Open issue and discussion with rich Markdown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3036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4204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04204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95185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95185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2220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Cross-link, mention and enable Pages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16518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17686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17686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08667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08667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5702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Tune notifications and record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3566160"/>
            <a:ext cx="1065276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ACCEPTANCE CRITERIA — THE LAB IS COMPLETE ONLY WHEN EVERY ITEM IS EVIDENCED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39502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39502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" y="39684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39684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Issue is triaged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46360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" y="46360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" y="46542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46542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Markdown features render as intended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" y="53218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" y="53218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8408" y="53400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25880" y="53400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Cross-links and @mentions resolve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99632" y="39502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99632" y="39502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39684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48272" y="39684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Notification choice is justified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99632" y="46360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99632" y="46360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46542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48272" y="46542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Pages URL resolves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Domain 03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975104"/>
            <a:ext cx="10561320" cy="32552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2359152"/>
            <a:ext cx="982980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Can you choose among issues, discussions and pull requests for a collaboration scenario?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6512"/>
            <a:ext cx="973836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Exam readiness comes from recognising the purpose, trade-off and best-fit feature in a scenario.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6384" y="2121408"/>
            <a:ext cx="128016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2084831"/>
            <a:ext cx="98755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DOMAIN 04 · 10–15%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2606040"/>
            <a:ext cx="9966960" cy="12984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Apply Modern Development Practices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096512"/>
            <a:ext cx="97840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Actions · Copilot · Codespaces · dev containers · github.dev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603504"/>
            <a:ext cx="2971800" cy="1325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68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EXAM WEIGHTING 10–15%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Apply Modern Development Practices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11096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GitHub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Events trigger workflows made of jobs, steps, actions and runners.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755648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1636" y="1755648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7668" y="1911096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Continuous feedback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7668" y="2377440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Automated checks shorten the gap between change and evidence.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297936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297936"/>
            <a:ext cx="91440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453384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GitHub Copilot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" y="3919728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AI-assisted suggestions, chat, agents and multi-model support accelerate work.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3297936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297936"/>
            <a:ext cx="91440" cy="13228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453384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Arial"/>
              </a:rPr>
              <a:t>Plan differences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7668" y="3919728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Individual, Business and Enterprise plans add progressively stronger governance.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840224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40224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" y="4995672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Codespaces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" y="5462016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Cloud development environments standardise compute and dependencies.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1636" y="4840224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1636" y="4840224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7668" y="4995672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github.dev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7668" y="5462016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lightweight browser editor; Codespaces provides a full runtime and terminal.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AUTOMATION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An Actions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14628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4628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Event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6960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93848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3848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1236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31236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58440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3568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0456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0456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47844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7844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5048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Job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0176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7064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7064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64452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64452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6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Step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96784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3672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3672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81060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81060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08264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Action or command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13392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60280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860280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97668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97668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24872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Runner result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CHOOSE THE RIGHT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github.dev vs Codespaces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1663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github.dev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Instant browser editor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No terminal or runtime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Good for small edits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Uses repository files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72784" y="1783080"/>
            <a:ext cx="51663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Codespaces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Cloud VM and container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Terminal and runtime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Reproducible dev container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Good for build and test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EVENT → WORKFLOW → JOB →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Anatomy of a Workflow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YAML file in .github/workflows/ on the branch that should run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3504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3504" y="1755648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9536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name and 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9536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name labels the workflow; on lists the events that trigger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9768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9768" y="1755648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jobs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Named units of work; each job selects a runner with runs-on.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69080"/>
            <a:ext cx="91440" cy="20939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Arial"/>
              </a:rPr>
              <a:t>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Ordered actions or shell commands, sharing the job's workspace.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3504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13504" y="4069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9536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uses vs run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9536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uses calls a published action such as actions/checkout@v4; run executes a shell command.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9768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9768" y="4069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5800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Reading a failure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5800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the run, then the job, then the failing step; the log names the exact command and exit code.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Arial"/>
              </a:rPr>
              <a:t>AUTOMATION HAS A COST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Triggers and Actions Billing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1663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Common triggers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push — validate every commit on a branch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pull_request — gate a change before merge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schedule — cron for nightly or weekly runs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workflow_dispatch — a manual Run workflow button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5321807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05</a:t>
            </a:r>
            <a:r>
              <a:rPr sz="1400" b="0">
                <a:solidFill>
                  <a:srgbClr val="161B26"/>
                </a:solidFill>
                <a:latin typeface="Arial"/>
              </a:rPr>
              <a:t>  issues, release, and other repository events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2784" y="1783080"/>
            <a:ext cx="51663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Billing basics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Free for public repositories and self-hosted runners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Private repositories get a monthly free minute allowance by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Minutes reset monthly; storage accumulates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Spending limit defaults to $0 for card-billed accounts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5321807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05</a:t>
            </a:r>
            <a:r>
              <a:rPr sz="1400" b="0">
                <a:solidFill>
                  <a:srgbClr val="161B26"/>
                </a:solidFill>
                <a:latin typeface="Arial"/>
              </a:rPr>
              <a:t>  Larger runners consume minutes at a higher multiplier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AI PAIR PROGRAMMER, NOT AN AUTOPILOT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GitHub Copilot Actually Offers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Inline suggestions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Greyed-out completions ahead of the cursor; Tab accepts, Esc dismisses.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3504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3504" y="1755648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9536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Copilot Chat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9536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conversational panel that explains code, proposes fixes and drafts tests.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9768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9768" y="1755648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Inline chat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Ctrl+I or Cmd+I asks for a change at the exact cursor position.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69080"/>
            <a:ext cx="91440" cy="20939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Arial"/>
              </a:rPr>
              <a:t>Copilot in the CLI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Suggests and explains shell commands in Bash, Zsh and PowerShell.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3504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13504" y="4069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9536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Pull request summaries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9536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Drafts a PR description from the actual diff for the author to edit.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9768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9768" y="4069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5800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Where it runs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5800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VS Code, Visual Studio, JetBrains IDEs, Neovim, github.com and Mobile.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CAPABILITY AND GOVERNANCE SCALE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Copilot Plan Tiers and Interaction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1663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Plan tiers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Free: a capped monthly allowance of completions and chat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Pro: individual developers, full completions and chat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Business: policy control, public-code filtering, IP indemnity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Enterprise: codebase indexing, docs search, PR review assistance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5321807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05</a:t>
            </a:r>
            <a:r>
              <a:rPr sz="1400" b="0">
                <a:solidFill>
                  <a:srgbClr val="161B26"/>
                </a:solidFill>
                <a:latin typeface="Arial"/>
              </a:rPr>
              <a:t>  Organisation owners enable and govern seats centrally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2784" y="1783080"/>
            <a:ext cx="51663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How you interact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Comment to code: describe the intent and let it draft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Multiple suggestions: cycle alternatives and pick 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Explain this: understand unfamiliar code before changing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Generate unit tests for a selected function or class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5321807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05</a:t>
            </a:r>
            <a:r>
              <a:rPr sz="1400" b="0">
                <a:solidFill>
                  <a:srgbClr val="161B26"/>
                </a:solidFill>
                <a:latin typeface="Arial"/>
              </a:rPr>
              <a:t>  Every suggestion still needs human review before commit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PROMPT QUALITY DETERMINES OUTPUT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Prompting and Troubleshooting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Start simple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Ask for the basic shape first, then refine with a follow-up instruction.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3504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3504" y="1755648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9536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Be specific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9536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Name the framework, the input and the expected output — vague prompts return vague code.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9768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9768" y="1755648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Give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the related files; Copilot reads the surrounding code and comments.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69080"/>
            <a:ext cx="91440" cy="20939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Arial"/>
              </a:rPr>
              <a:t>Iterate in chat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chat to correct an almost-right suggestion rather than retyping the prompt.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3504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13504" y="4069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9536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Enable or disable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9536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status bar icon toggles completions globally or for one language.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9768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9768" y="4069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5800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Troubleshoot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5800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Collect Diagnostics from the command palette; check logs, proxies and firewall rules.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CREATE → USE → STOP → REBUILD → DELETE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Codespace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21408"/>
            <a:ext cx="156972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14628" y="2514600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4628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Create from repo, branch, PR or commit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6960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93848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3848" y="2121408"/>
            <a:ext cx="156972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1236" y="2514600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31236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58440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Work — autosave in the browser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3568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0456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0456" y="2121408"/>
            <a:ext cx="156972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47844" y="2514600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7844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5048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Stop or time out after 30 min idle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0176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7064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7064" y="2121408"/>
            <a:ext cx="156972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64452" y="2514600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64452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6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Reopen and continue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96784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3672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3672" y="2121408"/>
            <a:ext cx="156972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81060" y="2514600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81060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08264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Rebuild to apply dev-container changes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13392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60280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860280" y="2121408"/>
            <a:ext cx="156972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97668" y="2514600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97668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24872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Delete after pushing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PUSH BEFORE YOU DELETE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Codespaces: Persistence and Personalisation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Creation 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VM and storage are assigned, a container is built, a connection opens, then post-create setup runs.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3504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3504" y="1755648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9536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Saving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9536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Autosave protects the VM only. Committing and pushing is the only durable save.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9768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9768" y="1755648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Timeout and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30 minutes idle stops it by default; running time bills CPU, stopped time bills storage.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69080"/>
            <a:ext cx="91440" cy="20939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Arial"/>
              </a:rPr>
              <a:t>Rebuild behaviour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Changes inside /workspaces survive a rebuild; changes outside it are cleared.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3504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13504" y="4069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9536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Deletion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9536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Stopped codespaces are auto-deleted after a retention period, 30 days by default.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9768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9768" y="4069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5800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Personalisation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5800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Dotfiles repository, Settings Sync, extensions, shell, machine type, region and timeout.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9: Build and Diagnose a GitHub Actions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28800"/>
            <a:ext cx="6583680" cy="98755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1993392"/>
            <a:ext cx="6089904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Every documentation pull request must prove that README.md and SECURITY.md exist.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054096"/>
            <a:ext cx="6583680" cy="23408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273552"/>
            <a:ext cx="60350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YOU WILL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675887"/>
            <a:ext cx="598932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A pull-request Actions workflow with successful and failed run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4901184"/>
            <a:ext cx="59893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GitHub Actions, YAML, Git Bash, workflow logs, Excel workbook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62672" y="1828800"/>
            <a:ext cx="3767328" cy="35661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2148840"/>
            <a:ext cx="31546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706624"/>
            <a:ext cx="3154680" cy="22494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Excel workbook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Action log · URLs · screenshots · status · reflection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Detailed procedures are in the Learner Guide and lab folder.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9 · SEE LG FOR PROCEDURES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9 Workflow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68221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68221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Create the validation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9554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90722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90722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1703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1703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8738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Push branch and open PR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3036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4204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04204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95185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95185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2220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Diagnose a failed run and fix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16518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17686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17686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08667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08667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5702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Rerun and capture passing logs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3566160"/>
            <a:ext cx="1065276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ACCEPTANCE CRITERIA — THE LAB IS COMPLETE ONLY WHEN EVERY ITEM IS EVIDENCED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39502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39502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" y="39684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39684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Workflow triggers on PR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46360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" y="46360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" y="46542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46542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Failure is diagnosed from logs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9632" y="39502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99632" y="39502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39684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48272" y="39684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Corrected run passes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99632" y="46360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99632" y="46360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46542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48272" y="46542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Run URLs and SHAs are captured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10: Compare Codespaces, github.dev and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28800"/>
            <a:ext cx="6583680" cy="98755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1993392"/>
            <a:ext cx="6089904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distributed contributor needs a consistent environment for a small documentation automation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054096"/>
            <a:ext cx="6583680" cy="23408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273552"/>
            <a:ext cx="60350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YOU WILL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675887"/>
            <a:ext cx="598932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A dev-container configuration, environment comparison and verified Copilot-assisted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4901184"/>
            <a:ext cx="59893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Codespaces, dev containers, github.dev, GitHub Copilot or trainer demonstration, Excel workbook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62672" y="1828800"/>
            <a:ext cx="3767328" cy="35661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2148840"/>
            <a:ext cx="31546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706624"/>
            <a:ext cx="3154680" cy="22494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Excel workbook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Action log · URLs · screenshots · status · reflection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Detailed procedures are in the Learner Guide and lab folder.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10 · SEE LG FOR PROCEDURES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10 Workflow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68221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68221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Edit in github.dev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9554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90722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90722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1703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1703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8738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Open Codespace and verify runtime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3036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4204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04204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95185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95185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2220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Use Copilot with human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16518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17686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17686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08667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08667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5702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Commit verified change and compare tools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3566160"/>
            <a:ext cx="1065276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ACCEPTANCE CRITERIA — THE LAB IS COMPLETE ONLY WHEN EVERY ITEM IS EVIDENCED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39502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39502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" y="39684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39684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Dev container is valid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46360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" y="46360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" y="46542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46542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Environment choice is justified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9632" y="39502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99632" y="39502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39684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48272" y="39684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AI output is independently checked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99632" y="46360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99632" y="46360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46542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48272" y="46542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Verified change is committed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Domain 04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975104"/>
            <a:ext cx="10561320" cy="32552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2359152"/>
            <a:ext cx="982980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Can you select the right GitHub automation, AI and cloud-development service for a scenario?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6512"/>
            <a:ext cx="973836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Exam readiness comes from recognising the purpose, trade-off and best-fit feature in a scenario.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6384" y="2121408"/>
            <a:ext cx="128016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2084831"/>
            <a:ext cx="98755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DOMAIN 05 · 5–10%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2606040"/>
            <a:ext cx="9966960" cy="12984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Manage Projects with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096512"/>
            <a:ext cx="97840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Projects · views · fields · workflows · milestones ·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603504"/>
            <a:ext cx="2971800" cy="1325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68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EXAM WEIGHTING 5–10%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Manage Projects with GitHub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11096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One data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Issues, PRs and draft items can be viewed as table, board or roadmap.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755648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1636" y="1755648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7668" y="1911096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Fields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7668" y="2377440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Status, iteration, priority and custom fields turn work into structured data.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297936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297936"/>
            <a:ext cx="91440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453384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Automation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" y="3919728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Built-in workflows update status as items open, close or merge.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3297936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297936"/>
            <a:ext cx="91440" cy="13228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453384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Arial"/>
              </a:rPr>
              <a:t>Planning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7668" y="3919728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Milestones and iterations express target outcomes and timeboxes.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840224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40224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" y="4995672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Communication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" y="5462016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Assignees and saved replies make ownership and responses consistent.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1636" y="4840224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1636" y="4840224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7668" y="4995672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Insights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7668" y="5462016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Charts expose flow, workload, progress and bottlenecks.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PROJECTS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One Project, Three 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Compare many fields and edit in bulk.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3504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3504" y="1755648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9536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9536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Visualise flow by status or another field.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9768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9768" y="1755648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Roadmap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Plan work against dates and iterations.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69080"/>
            <a:ext cx="91440" cy="20939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Arial"/>
              </a:rPr>
              <a:t>Fields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Create shared structure.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3504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13504" y="4069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9536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Workflows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9536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Automate predictable transitions.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9768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9768" y="4069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5800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Insights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5800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Turn project data into decisions.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SCOPE · TIME · OWNERSHIP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Release Coordination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21408"/>
            <a:ext cx="1933041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21408"/>
            <a:ext cx="1933041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6288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6288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493008"/>
            <a:ext cx="1603857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Define milestone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0281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57169" y="2121408"/>
            <a:ext cx="1933041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57169" y="2121408"/>
            <a:ext cx="1933041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6217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76217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1761" y="3493008"/>
            <a:ext cx="1603857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Prioritise items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0210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37098" y="2121408"/>
            <a:ext cx="1933041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37098" y="2121408"/>
            <a:ext cx="1933041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56146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6146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1690" y="3493008"/>
            <a:ext cx="1603857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Assign owners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0139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7027" y="2121408"/>
            <a:ext cx="1933041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7027" y="2121408"/>
            <a:ext cx="1933041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36075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6075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1619" y="3493008"/>
            <a:ext cx="1603857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Track required checks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0068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96956" y="2121408"/>
            <a:ext cx="1933041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96956" y="2121408"/>
            <a:ext cx="1933041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6004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16004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1548" y="3493008"/>
            <a:ext cx="1603857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Tag and publish release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ONE DATASET, MANY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Projects vs Projects Classic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1663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Projects (current)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Table, board and roadmap layouts over one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Custom fields: text, number, date, iteration, single select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Tokenised filtering and saved views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Insights charts with aggregation functions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5321807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05</a:t>
            </a:r>
            <a:r>
              <a:rPr sz="1400" b="0">
                <a:solidFill>
                  <a:srgbClr val="161B26"/>
                </a:solidFill>
                <a:latin typeface="Arial"/>
              </a:rPr>
              <a:t>  GraphQL ProjectsV2 API and webhook events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2784" y="1783080"/>
            <a:ext cx="51663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Projects Classic (legacy)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Board columns only, per repository or organisation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Note cards with no structured fields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No iteration planning or roadmap 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Limited automation presets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5321807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05</a:t>
            </a:r>
            <a:r>
              <a:rPr sz="1400" b="0">
                <a:solidFill>
                  <a:srgbClr val="161B26"/>
                </a:solidFill>
                <a:latin typeface="Arial"/>
              </a:rPr>
              <a:t>  Retained for existing boards; new work uses Projects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Arial"/>
              </a:rPr>
              <a:t>STRUCTURE BEFORE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Fields Turn Work into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single-select field that drives board columns and built-in workflows.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3504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3504" y="1755648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9536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Priority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9536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single-select field such as Urgent, High, Medium, Low for grouping and slicing.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9768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9768" y="1755648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Iteration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Repeating timeboxes with a start date, duration and optional breaks for sprints or quarters.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69080"/>
            <a:ext cx="91440" cy="20939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Arial"/>
              </a:rPr>
              <a:t>Date and number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Target date and estimate fields feed the roadmap and insight aggregations.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3504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13504" y="4069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9536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Grouping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9536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Group a table or board by any field to answer a different stakeholder question.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9768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9768" y="4069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5800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Slicing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5800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slice panel filters the whole view by one field's values without editing the filter.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SEE THE FLOW, THEN AUTOMATE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Insights and Built-in 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1663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Insights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Current charts show the project as it is right 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Historical charts show trends over time (Team and Enterprise Cloud)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Burn-up is the default historical chart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Bar, column, line and stacked area layouts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5321807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05</a:t>
            </a:r>
            <a:r>
              <a:rPr sz="1400" b="0">
                <a:solidFill>
                  <a:srgbClr val="161B26"/>
                </a:solidFill>
                <a:latin typeface="Arial"/>
              </a:rPr>
              <a:t>  Sum, count, average, min and max aggregations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2784" y="1783080"/>
            <a:ext cx="51663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Built-in workflows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Item added to project → set Status to Todo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Item closed → set Status to Done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Pull request merged → set Status to Done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Auto-archive items matching a filter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5321807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05</a:t>
            </a:r>
            <a:r>
              <a:rPr sz="1400" b="0">
                <a:solidFill>
                  <a:srgbClr val="161B26"/>
                </a:solidFill>
                <a:latin typeface="Arial"/>
              </a:rPr>
              <a:t>  Beyond these: the GraphQL API or an Actions workflow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WHO CAN SEE IT AND WHAT HAPPENS AT THE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Project Access and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Organisation projects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Base access of No access, Read, Write or Admin for everyone in the organisation.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3504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3504" y="1755648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9536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User projects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9536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Access is granted per invited collaborator as Read, Write or Admin.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9768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9768" y="1755648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Visibility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Private or public, changed in Settings under the Danger zone.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69080"/>
            <a:ext cx="91440" cy="20939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Arial"/>
              </a:rPr>
              <a:t>Link to a 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Team → Projects → Link a project makes it visible in that team's workspace.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3504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13504" y="4069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9536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Link to a repository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9536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Repository → Projects → Link a project surfaces it where the work lives.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9768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9768" y="4069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5800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Close vs delete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5800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Closing archives the project but keeps its data; deleting is permanent and requires typing the name.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11: Plan and Track a Release with GitHub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28800"/>
            <a:ext cx="6583680" cy="98755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1993392"/>
            <a:ext cx="6089904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CourseTrack Pro team needs one view of features, defects and release readiness.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054096"/>
            <a:ext cx="6583680" cy="23408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273552"/>
            <a:ext cx="60350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YOU WILL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675887"/>
            <a:ext cx="598932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A GitHub Project with table, board and roadmap views plus fields, workflows and insights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4901184"/>
            <a:ext cx="59893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GitHub Projects, issues, milestones, labels, saved replies, Excel workbook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62672" y="1828800"/>
            <a:ext cx="3767328" cy="35661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2148840"/>
            <a:ext cx="31546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706624"/>
            <a:ext cx="3154680" cy="22494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Excel workbook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Action log · URLs · screenshots · status · reflection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Detailed procedures are in the Learner Guide and lab folder.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11 · SEE LG FOR PROCEDURES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11 Workflow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68221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68221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Create Project and fields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9554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90722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90722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1703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1703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8738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 issues and milestone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3036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4204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04204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95185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95185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2220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Build table, board and roadmap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16518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17686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17686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08667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08667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5702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Automate status and inspect insights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3566160"/>
            <a:ext cx="1065276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ACCEPTANCE CRITERIA — THE LAB IS COMPLETE ONLY WHEN EVERY ITEM IS EVIDENCED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39502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39502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" y="39684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39684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Three views answer different questions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46360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" y="46360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" y="46542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46542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Fields are populated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9632" y="39502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99632" y="39502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39684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48272" y="39684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Workflow is enabled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99632" y="46360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99632" y="46360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46542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48272" y="46542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Insight is interpreted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Domain 05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975104"/>
            <a:ext cx="10561320" cy="32552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2359152"/>
            <a:ext cx="982980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Can you choose the right GitHub Projects view, field and workflow for a planning question?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6512"/>
            <a:ext cx="973836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Exam readiness comes from recognising the purpose, trade-off and best-fit feature in a scenario.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6384" y="2121408"/>
            <a:ext cx="128016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2084831"/>
            <a:ext cx="98755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DOMAIN 06 · 10–15%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2606040"/>
            <a:ext cx="9966960" cy="12984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Understand Privacy, Security and Administration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096512"/>
            <a:ext cx="97840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2FA · passkeys · roles · visibility · rulesets · EMU · policy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603504"/>
            <a:ext cx="2971800" cy="1325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6800" b="1">
                <a:solidFill>
                  <a:srgbClr val="E2E8F0"/>
                </a:solidFill>
                <a:latin typeface="Arial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EXAM WEIGHTING 10–15%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Key Concepts — Understand Privacy, Security and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11096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Secure 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2FA and passkeys reduce account-takeover risk.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755648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1636" y="1755648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7668" y="1911096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Least privilege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7668" y="2377440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Repository and organisation roles should match responsibility.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297936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297936"/>
            <a:ext cx="91440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453384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Visibility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" y="3919728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Public, private and internal determine who can discover and access work.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3297936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297936"/>
            <a:ext cx="91440" cy="13228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453384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Arial"/>
              </a:rPr>
              <a:t>Protected change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7668" y="3919728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Rulesets, branch protection, required reviews and checks guard critical branches.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840224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40224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" y="4995672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Enterprise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" y="5462016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EMUs and organisation policies centralise identity and Copilot governance.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1636" y="4840224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1636" y="4840224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7668" y="4995672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Secure supply chain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7668" y="5462016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Dependabot, code scanning and secret scanning identify different risks.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SECURE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Protected Change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14628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4628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Authenticated identity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6960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93848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3848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1236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31236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58440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Least-privilege role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3568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0456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0456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47844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7844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5048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Pull request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0176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7064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7064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64452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64452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6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Required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96784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3672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3672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81060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81060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08264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Required checks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13392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60280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860280" y="2121408"/>
            <a:ext cx="156972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97668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97668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24872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Controlled merge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PICK THE NARROWEST CREDENTIAL THAT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Authentication Landscape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Username + password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No longer accepted for Git operations over HTTPS; sign-in only, and always with 2FA.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3504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3504" y="1755648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9536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Classic PAT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9536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One token, broad scopes, account-wide reach. Simple but blunt — set an expiry.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9768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9768" y="1755648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Fine-grained PAT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Scoped to chosen repositories with per-permission control and a required expiry. Prefer this.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69080"/>
            <a:ext cx="91440" cy="20939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Arial"/>
              </a:rPr>
              <a:t>SSH key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key pair on your machine; no token to paste per push. Protect it with a passphrase.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3504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13504" y="4069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9536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Deploy key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9536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 SSH key granting one repository, read-only by default — the right choice for a CI server.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9768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9768" y="4069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5800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GitHub App / OAuth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5800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Delegated, revocable access for integrations rather than a human's credentials.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IDENTITY IS THE FIRST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Second Factors and Enterprise Identity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1663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2FA options, strongest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Passkeys and security keys: phishing-resistant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TOTP app: reliable, backs up to the 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SMS: last resort, not available everywhere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Recovery codes: store offline, never in a repo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5321807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05</a:t>
            </a:r>
            <a:r>
              <a:rPr sz="1400" b="0">
                <a:solidFill>
                  <a:srgbClr val="161B26"/>
                </a:solidFill>
                <a:latin typeface="Arial"/>
              </a:rPr>
              <a:t>  Owners can require 2FA org-wide or enterprise-wide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2784" y="1783080"/>
            <a:ext cx="51663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Enterprise identity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SAML SSO: the IdP authenticates, GitHub authorises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SCIM: automatic provisioning and deprovisioning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LDAP: directory-backed accounts on Enterprise Server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Team synchronisation: IdP groups drive team membership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5321807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05</a:t>
            </a:r>
            <a:r>
              <a:rPr sz="1400" b="0">
                <a:solidFill>
                  <a:srgbClr val="161B26"/>
                </a:solidFill>
                <a:latin typeface="Arial"/>
              </a:rPr>
              <a:t>  EMU: the enterprise owns the accounts entirely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Arial"/>
              </a:rPr>
              <a:t>LEAST PRIVILEGE IS A CHOICE PER PERSONA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Permission Levels You Must Recognise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Repository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Read → Triage → Write → Maintain → Admin; each level includes the ones below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3504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3504" y="1755648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9536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Triage in practice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9536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Manage issues and pull requests without any ability to push code.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9768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9768" y="1755648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Maintain in practice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 the repository day to day without destructive or security-sensitive settings.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69080"/>
            <a:ext cx="91440" cy="20939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Arial"/>
              </a:rPr>
              <a:t>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Member or maintainer; teams then carry a repository permission to their members.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3504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13504" y="4069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9536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Organisation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9536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Owner, member, moderator and billing manager, plus security manager.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9768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9768" y="4069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5800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Enterprise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5800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Enterprise owner, member and billing manager, setting policy across all organisations.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FIND VULNERABILITIES BEFORE MERGE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Code Scanning with CodeQL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1663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Setting it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Default setup: GitHub picks languages and queries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Advanced setup: a CodeQL workflow file you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Third-party tools upload SARIF 2.1.0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Free for public repositories; Advanced Security for private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5321807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05</a:t>
            </a:r>
            <a:r>
              <a:rPr sz="1400" b="0">
                <a:solidFill>
                  <a:srgbClr val="161B26"/>
                </a:solidFill>
                <a:latin typeface="Arial"/>
              </a:rPr>
              <a:t>  Alerts land in the repository Security tab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2784" y="1783080"/>
            <a:ext cx="51663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Tuning what runs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on: push validates protected branches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on: pull_request scans the merge commit before merge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on: schedule keeps scanning idle repositories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paths and paths-ignore skip irrelevant changes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5321807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05</a:t>
            </a:r>
            <a:r>
              <a:rPr sz="1400" b="0">
                <a:solidFill>
                  <a:srgbClr val="161B26"/>
                </a:solidFill>
                <a:latin typeface="Arial"/>
              </a:rPr>
              <a:t>  A severity threshold decides which alerts fail the PR check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THREE DEPENDABOT FEATURES, THREE 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Supply Chain and Secret Protection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Dependency 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Parses manifests such as package.json to map direct and transitive dependencies.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3504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3504" y="1755648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9536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Dependabot 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9536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Cross-references that graph against GitHub Security Advisories and notifies you.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9768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9768" y="1755648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Dependabot security updates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Opens a pull request that bumps a vulnerable dependency to a safe version.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69080"/>
            <a:ext cx="91440" cy="20939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Arial"/>
              </a:rPr>
              <a:t>Dependabot version updates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Configured in .github/dependabot.yml to keep dependencies current on a schedule.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3504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13504" y="4069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9536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Secret scanning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9536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Detects committed credentials and notifies the issuing provider so they can revoke.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9768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9768" y="4069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5800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Push protection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5800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Blocks the push that would introduce a detected secret, before it ever reaches history.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CONTROLS THAT SURVIVE STAFF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Govern the Repository Itself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1663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Policy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SECURITY.md: how to report a vulnerability privately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Security advisories: fix in private, then publish to the CVE 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CODEOWNERS: required reviewers per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CONTRIBUTING and CODE_OF_CONDUCT: expected behaviour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5321807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05</a:t>
            </a:r>
            <a:r>
              <a:rPr sz="1400" b="0">
                <a:solidFill>
                  <a:srgbClr val="161B26"/>
                </a:solidFill>
                <a:latin typeface="Arial"/>
              </a:rPr>
              <a:t>  .gitignore: what must never be committed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2784" y="1783080"/>
            <a:ext cx="51663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Protected 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Rulesets and branch protection guard the default branch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Require a pull request, approvals and passing checks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Require signed commits or a linear 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Restrict who may push; lock a branch read-only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5321807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05</a:t>
            </a:r>
            <a:r>
              <a:rPr sz="1400" b="0">
                <a:solidFill>
                  <a:srgbClr val="161B26"/>
                </a:solidFill>
                <a:latin typeface="Arial"/>
              </a:rPr>
              <a:t>  Removing a leaked secret means rewriting history and rotating it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IDENTITY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Personal Accounts and EMUs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1663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Personal account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User controls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Can work across organisations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Organisation applies access policies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Offboarding removes org access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72784" y="1783080"/>
            <a:ext cx="51663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Enterprise Managed 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Enterprise provisions identity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Activity constrained to enterprise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Central lifecycle and 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Designed for controlled environments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6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12: Secure and Administer a Repository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28800"/>
            <a:ext cx="6583680" cy="98755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1993392"/>
            <a:ext cx="6089904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release repository must prevent unsafe changes and surface security findings early.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054096"/>
            <a:ext cx="6583680" cy="23408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273552"/>
            <a:ext cx="60350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YOU WILL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675887"/>
            <a:ext cx="598932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A repository security baseline with authentication comparison, access rationale, ruleset design, CODEOWNERS and scanning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4901184"/>
            <a:ext cx="59893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Authentication settings, PAT and SSH key configuration, security settings, Dependabot, code scanning, secret scanning concepts, roles, rulesets, Excel workbook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62672" y="1828800"/>
            <a:ext cx="3767328" cy="35661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2148840"/>
            <a:ext cx="31546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706624"/>
            <a:ext cx="3154680" cy="22494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Excel workbook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Action log · URLs · screenshots · status · reflection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Detailed procedures are in the Learner Guide and lab folder.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12 · SEE LG FOR PROCEDURES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12 Workflow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68221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68221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Compare authentication methods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9554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90722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90722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1703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1703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8738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Review roles and visibility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3036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4204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04204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95185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95185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2220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Configure ruleset, CODEOWNERS and checks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16518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17686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17686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08667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08667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5702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Compare security controls and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3566160"/>
            <a:ext cx="1065276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ACCEPTANCE CRITERIA — THE LAB IS COMPLETE ONLY WHEN EVERY ITEM IS EVIDENCED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39502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39502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" y="39684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39684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Authentication methods are compared with a chosen default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46360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" y="46360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" y="46542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46542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Least privilege is justified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" y="53218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" y="53218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8408" y="53400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25880" y="53400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Branch rule and CODEOWNERS are documented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99632" y="39502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99632" y="39502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39684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48272" y="39684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Security features are distinguished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99632" y="46360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99632" y="46360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46542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48272" y="46542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 real secret, token or key is recorded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Domain 06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975104"/>
            <a:ext cx="10561320" cy="32552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2359152"/>
            <a:ext cx="982980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Can you match GitHub identity, access and security controls to the risks they reduce?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6512"/>
            <a:ext cx="973836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Exam readiness comes from recognising the purpose, trade-off and best-fit feature in a scenario.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6384" y="2121408"/>
            <a:ext cx="128016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2084831"/>
            <a:ext cx="98755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DOMAIN 07 · 5–10%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2606040"/>
            <a:ext cx="9966960" cy="12984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Explore the GitHub Community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096512"/>
            <a:ext cx="97840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Open source · Sponsors · Marketplace · InnerSource · 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603504"/>
            <a:ext cx="2971800" cy="1325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6800" b="1">
                <a:solidFill>
                  <a:srgbClr val="E2E8F0"/>
                </a:solidFill>
                <a:latin typeface="Arial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EXAM WEIGHTING 5–10%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Explore the GitHub Community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11096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Open 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Shared licences and transparent collaboration compound public value.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755648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1636" y="1755648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7668" y="1911096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Healthy contribution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7668" y="2377440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CONTRIBUTING, codes of conduct and issue templates set expectations.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297936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297936"/>
            <a:ext cx="91440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453384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Sustainability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" y="3919728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GitHub Sponsors helps fund maintainers and projects.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3297936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297936"/>
            <a:ext cx="91440" cy="13228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453384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Arial"/>
              </a:rPr>
              <a:t>Discovery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7668" y="3919728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Follow users and organisations; use topics, stars and search to find work.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840224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40224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" y="4995672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Marketplace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" y="5462016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Apps and Actions extend GitHub workflows.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1636" y="4840224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1636" y="4840224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7668" y="4995672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InnerSource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7668" y="5462016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Open-source practices improve reuse and collaboration inside an organisation.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COMMUNITY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Open Source and InnerSource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1663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Open 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Public 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Licence defines 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External community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Sponsors can fund maintainers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72784" y="1783080"/>
            <a:ext cx="51663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InnerSource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Organisation-only discovery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Internal reuse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Trusted contributor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Open practices behind access control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DISCOVER · CONTRIBUTE · SUSTAIN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Healthy Community Signals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Licence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Clear permission to use and contribute.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3504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3504" y="1755648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9536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README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9536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Fast orientation.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9768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9768" y="1755648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Contributing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Expected workflow.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69080"/>
            <a:ext cx="91440" cy="20939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Arial"/>
              </a:rPr>
              <a:t>Code of conduct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Behavioural standard.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3504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13504" y="4069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9536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Topics and stars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9536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Discovery signals.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9768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9768" y="4069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5800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Sponsors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5800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Sustainability mechanism.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DISCOVERY IS A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Find a Project You Can Actually Help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Start where you already 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easiest first contribution is to a tool you already use and understand.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3504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3504" y="1755648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9536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github.com/explore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9536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Curated topics, trending repositories and collections tuned to your interests.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9768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9768" y="1755648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Search with qualifiers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topic:, language:, stars:&gt; and good-first-issues:&gt;1 narrow the field quickly.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69080"/>
            <a:ext cx="91440" cy="20939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Arial"/>
              </a:rPr>
              <a:t>The /contribute page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Every repository has one; it surfaces beginner-friendly issues automatically.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3504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13504" y="4069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9536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Entry-point labels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9536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good first issue, help wanted and documentation mark low-context work.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9768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9768" y="4069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5800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Small first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5800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Broken links, typos and outdated docs are real contributions and build trust.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AVOID DUPLICATED AND REJECTED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Communicate Intent Before You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21408"/>
            <a:ext cx="156972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14628" y="2514600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4628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Read README, CONTRIBUTING and the code of conduct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6960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93848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3848" y="2121408"/>
            <a:ext cx="156972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1236" y="2514600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31236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58440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Check assignees and linked PRs on the issue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3568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0456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0456" y="2121408"/>
            <a:ext cx="156972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47844" y="2514600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7844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5048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Comment to claim it, or open a new issue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0176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7064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7064" y="2121408"/>
            <a:ext cx="156972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64452" y="2514600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64452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6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Get maintainer agreement for anything large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96784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3672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3672" y="2121408"/>
            <a:ext cx="156972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81060" y="2514600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81060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08264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Fork, branch and implement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13392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60280" y="2121408"/>
            <a:ext cx="1569720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860280" y="2121408"/>
            <a:ext cx="156972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97668" y="2514600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97668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24872" y="3493008"/>
            <a:ext cx="1240536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the PR and respond to review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Arial"/>
              </a:rPr>
              <a:t>CONTRIBUTION IS MORE THAN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Sustain the Projects You Depend 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GitHub Sponsors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Recurring or one-off funding for maintainers and organisations.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3504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3504" y="1755648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9536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to sponsor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9536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Sponsor button on an eligible project; choose a tier and whether it is public.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9768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9768" y="1755648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Non-financial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Triage, documentation, mentoring, design and translation all reduce maintainer load.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69080"/>
            <a:ext cx="91440" cy="20939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Arial"/>
              </a:rPr>
              <a:t>Why it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Most maintenance is volunteered; funding and help decide whether a project survives.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3504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13504" y="4069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9536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Marketplace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9536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Apps and Actions extend GitHub, many published by the same community.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9768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9768" y="4069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5800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Give credit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5800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Cite dependencies in your README and report bugs upstream rather than only patching locally.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OPEN-SOURCE PRACTICE BEHIND THE FIREWALL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Run an InnerSource Programme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51663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Make repositories usable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Internal visibility so any employee can discover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Read, triage, write, maintain, admin applied per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Descriptive name and a one-line description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A README that states purpose, setup and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5321807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05</a:t>
            </a:r>
            <a:r>
              <a:rPr sz="1400" b="0">
                <a:solidFill>
                  <a:srgbClr val="161B26"/>
                </a:solidFill>
                <a:latin typeface="Arial"/>
              </a:rPr>
              <a:t>  A licence, even internally, to settle reuse questions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1783080"/>
            <a:ext cx="5166360" cy="431596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2784" y="1783080"/>
            <a:ext cx="51663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2029968"/>
            <a:ext cx="4617720" cy="420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Make contribution predictable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688336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01</a:t>
            </a:r>
            <a:r>
              <a:rPr sz="1400" b="0">
                <a:solidFill>
                  <a:srgbClr val="161B26"/>
                </a:solidFill>
                <a:latin typeface="Arial"/>
              </a:rPr>
              <a:t>  CONTRIBUTING.md defines the process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346704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02</a:t>
            </a:r>
            <a:r>
              <a:rPr sz="1400" b="0">
                <a:solidFill>
                  <a:srgbClr val="161B26"/>
                </a:solidFill>
                <a:latin typeface="Arial"/>
              </a:rPr>
              <a:t>  Issue and PR templates capture the right detail up front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005072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03</a:t>
            </a:r>
            <a:r>
              <a:rPr sz="1400" b="0">
                <a:solidFill>
                  <a:srgbClr val="161B26"/>
                </a:solidFill>
                <a:latin typeface="Arial"/>
              </a:rPr>
              <a:t>  A stated branching, release and review 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466344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04</a:t>
            </a:r>
            <a:r>
              <a:rPr sz="1400" b="0">
                <a:solidFill>
                  <a:srgbClr val="161B26"/>
                </a:solidFill>
                <a:latin typeface="Arial"/>
              </a:rPr>
              <a:t>  Measure process: review turnaround, PR size, time to open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5321807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05</a:t>
            </a:r>
            <a:r>
              <a:rPr sz="1400" b="0">
                <a:solidFill>
                  <a:srgbClr val="161B26"/>
                </a:solidFill>
                <a:latin typeface="Arial"/>
              </a:rPr>
              <a:t>  Measure teams: unique contributors, reuse, cross-team @mentions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7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Lab 13: Contribute through a Fork and Explore the Community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28800"/>
            <a:ext cx="6583680" cy="98755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1993392"/>
            <a:ext cx="6089904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learner will propose a small documentation improvement to a training repository.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054096"/>
            <a:ext cx="6583680" cy="23408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273552"/>
            <a:ext cx="60350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YOU WILL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675887"/>
            <a:ext cx="598932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A fork, upstream remote, contribution branch and community-health 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4901184"/>
            <a:ext cx="59893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Forks, Git Bash, pull requests, licences, Sponsors, Marketplace, topics, Excel workbook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62672" y="1828800"/>
            <a:ext cx="3767328" cy="35661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2148840"/>
            <a:ext cx="31546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706624"/>
            <a:ext cx="3154680" cy="22494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Excel workbook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Action log · URLs · screenshots · status · reflection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Detailed procedures are in the Learner Guide and lab folder.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13 · SEE LG FOR PROCEDURES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13 Workflow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68221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68221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Fork and clone the fork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9554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90722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90722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1703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1703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8738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 upstream and fetch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3036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4204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04204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95185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95185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2220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Branch, commit and push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16518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17686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17686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08667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08667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5702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Open upstream PR and review community health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3566160"/>
            <a:ext cx="1065276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ACCEPTANCE CRITERIA — THE LAB IS COMPLETE ONLY WHEN EVERY ITEM IS EVIDENCED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39502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39502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" y="39684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39684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Origin/upstream are distinguished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46360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" y="46360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" y="46542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46542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Contribution follows project guidance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9632" y="39502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99632" y="39502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39684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48272" y="39684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Branch is published to the fork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99632" y="46360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99632" y="46360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46542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48272" y="46542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Community signals are evaluated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DOMAIN 7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14: Build a GH-900 Readiness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28800"/>
            <a:ext cx="6583680" cy="98755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1993392"/>
            <a:ext cx="6089904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learner has completed the practical work and needs a targeted final revision plan.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054096"/>
            <a:ext cx="6583680" cy="23408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273552"/>
            <a:ext cx="60350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YOU WILL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675887"/>
            <a:ext cx="598932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A weighted GH-900 readiness dashboard and two-day revision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4901184"/>
            <a:ext cx="59893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Official Microsoft practice assessment, Tertiary practice exam, Excel readiness dashboard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62672" y="1828800"/>
            <a:ext cx="3767328" cy="35661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2148840"/>
            <a:ext cx="31546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706624"/>
            <a:ext cx="3154680" cy="22494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Excel workbook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Action log · URLs · screenshots · status · reflection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Detailed procedures are in the Learner Guide and lab folder.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14 · SEE LG FOR PROCEDURES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14 Workflow and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68221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68221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Take a timed practice assessment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9554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90722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90722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1703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1703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8738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Enter domain scores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3036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4204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04204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95185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95185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2220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Prioritise weighted gaps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16518" y="2432304"/>
            <a:ext cx="201168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0B981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17686" y="1783080"/>
            <a:ext cx="2512314" cy="159105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17686" y="1783080"/>
            <a:ext cx="251231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08667" y="201168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08667" y="2011680"/>
            <a:ext cx="530352" cy="5303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5702" y="2670048"/>
            <a:ext cx="2256282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Plan revision and schedule the retest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3566160"/>
            <a:ext cx="1065276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ACCEPTANCE CRITERIA — THE LAB IS COMPLETE ONLY WHEN EVERY ITEM IS EVIDENCED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39502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39502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" y="39684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39684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Domain scores are entered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46360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" y="46360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" y="46542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46542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Priorities use weighted gaps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9632" y="39502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99632" y="39502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39684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48272" y="39684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Study plan links to hands-on evidence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99632" y="4636008"/>
            <a:ext cx="5230368" cy="60350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99632" y="4636008"/>
            <a:ext cx="73152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4654296"/>
            <a:ext cx="29260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48272" y="4654296"/>
            <a:ext cx="4498848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Exam-day requirements are confirmed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Domain 07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975104"/>
            <a:ext cx="10561320" cy="32552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2359152"/>
            <a:ext cx="982980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Can you explain how to discover, contribute to and sustain a healthy GitHub community?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6512"/>
            <a:ext cx="973836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Exam readiness comes from recognising the purpose, trade-off and best-fit feature in a scenario.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6384" y="2121408"/>
            <a:ext cx="128016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2084831"/>
            <a:ext cx="98755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2606040"/>
            <a:ext cx="9966960" cy="12984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Git Command Cheat Sheet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096512"/>
            <a:ext cx="97840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Every command used in this course, grouped by the job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603504"/>
            <a:ext cx="2971800" cy="1325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6800" b="1">
                <a:solidFill>
                  <a:srgbClr val="E2E8F0"/>
                </a:solidFill>
                <a:latin typeface="Arial"/>
              </a:rPr>
              <a:t>GIT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CHEAT SHEET · SETUP AND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Cheat Sheet 1 — Setup and Snapshot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64208"/>
            <a:ext cx="1065276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Install, identify yourself, start a repository and record snapshots.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048256"/>
            <a:ext cx="5230368" cy="5329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048256"/>
            <a:ext cx="73152" cy="5329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075688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--version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304288"/>
            <a:ext cx="4901184" cy="2586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Verify that Git is installed and available.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45228"/>
            <a:ext cx="5230368" cy="5329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645228"/>
            <a:ext cx="73152" cy="5329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672660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config --global user.name "Your Name"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901260"/>
            <a:ext cx="4901184" cy="2586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Set the author name used in new commits.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242200"/>
            <a:ext cx="5230368" cy="5329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242200"/>
            <a:ext cx="73152" cy="5329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269632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config --global user.email "you@example.com"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498232"/>
            <a:ext cx="4901184" cy="2586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Set the author email used in new commits.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839172"/>
            <a:ext cx="5230368" cy="5329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3839172"/>
            <a:ext cx="73152" cy="5329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866604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config --global init.defaultBranch main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095204"/>
            <a:ext cx="4901184" cy="2586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Make main the initial branch of new repositories.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436144"/>
            <a:ext cx="5230368" cy="5329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436144"/>
            <a:ext cx="73152" cy="5329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463576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init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692176"/>
            <a:ext cx="4901184" cy="2586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Create a new local Git repository in the current folder.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5033116"/>
            <a:ext cx="5230368" cy="5329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033116"/>
            <a:ext cx="73152" cy="5329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5060548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clone &lt;url&gt;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5289148"/>
            <a:ext cx="4901184" cy="2586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Copy a remote repository and configure origin.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5630088"/>
            <a:ext cx="5230368" cy="5329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" y="5630088"/>
            <a:ext cx="73152" cy="5329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5657520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status -sb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886120"/>
            <a:ext cx="4901184" cy="2586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Show the branch plus concise working-tree and staging state.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99632" y="2048256"/>
            <a:ext cx="5230368" cy="5329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99632" y="2048256"/>
            <a:ext cx="73152" cy="5329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82512" y="2075688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diff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2304288"/>
            <a:ext cx="4901184" cy="2586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Inspect unstaged changes before selecting them.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99632" y="2645228"/>
            <a:ext cx="5230368" cy="5329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99632" y="2645228"/>
            <a:ext cx="73152" cy="5329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82512" y="2672660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add &lt;file&gt;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82512" y="2901260"/>
            <a:ext cx="4901184" cy="2586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Stage a named file for the next commit.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99632" y="3242200"/>
            <a:ext cx="5230368" cy="5329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99632" y="3242200"/>
            <a:ext cx="73152" cy="5329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82512" y="3269632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add -p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82512" y="3498232"/>
            <a:ext cx="4901184" cy="2586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Select individual change hunks to stage.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99632" y="3839172"/>
            <a:ext cx="5230368" cy="5329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199632" y="3839172"/>
            <a:ext cx="73152" cy="5329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82512" y="3866604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diff --staged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82512" y="4095204"/>
            <a:ext cx="4901184" cy="2586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Review exactly what the next commit will contain.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99632" y="4436144"/>
            <a:ext cx="5230368" cy="5329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199632" y="4436144"/>
            <a:ext cx="73152" cy="5329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82512" y="4463576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commit -m "Message"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82512" y="4692176"/>
            <a:ext cx="4901184" cy="2586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Create a local snapshot with an outcome-based message.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99632" y="5033116"/>
            <a:ext cx="5230368" cy="5329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199632" y="5033116"/>
            <a:ext cx="73152" cy="5329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82512" y="5060548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commit --amend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82512" y="5289148"/>
            <a:ext cx="4901184" cy="2586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Rewrite the most recent commit; only before it is shared.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199632" y="5630088"/>
            <a:ext cx="5230368" cy="5329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99632" y="5630088"/>
            <a:ext cx="73152" cy="5329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82512" y="5657520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rm --cached &lt;file&gt;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82512" y="5886120"/>
            <a:ext cx="4901184" cy="2586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Stop tracking a file that .gitignore cannot hide retroactively.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CHEAT SHEET · BRANCH, MERGE AND REBASE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Cheat Sheet 2 — Branch, Merge and Rebase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64208"/>
            <a:ext cx="1065276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Isolate work and integrate it with the right strategy.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048256"/>
            <a:ext cx="5230368" cy="56692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048256"/>
            <a:ext cx="7315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075688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branch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304288"/>
            <a:ext cx="4901184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List local branches and identify the current branch.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79192"/>
            <a:ext cx="5230368" cy="56692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679192"/>
            <a:ext cx="7315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706624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switch -c &lt;branch&gt;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935224"/>
            <a:ext cx="4901184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Create and switch to a focused branch.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310128"/>
            <a:ext cx="5230368" cy="56692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310128"/>
            <a:ext cx="7315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337560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switch main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566160"/>
            <a:ext cx="4901184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Return to the main branch.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941064"/>
            <a:ext cx="5230368" cy="56692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3941064"/>
            <a:ext cx="7315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968496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switch -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197096"/>
            <a:ext cx="4901184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Jump back to the previously checked-out branch.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572000"/>
            <a:ext cx="5230368" cy="56692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572000"/>
            <a:ext cx="7315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599432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merge &lt;branch&gt;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828032"/>
            <a:ext cx="4901184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Integrate a completed branch into the current branch.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9632" y="2048256"/>
            <a:ext cx="5230368" cy="56692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9632" y="2048256"/>
            <a:ext cx="7315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2512" y="2075688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merge --no-ff &lt;branch&gt;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2304288"/>
            <a:ext cx="4901184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Force a merge commit so the branch remains visible.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9632" y="2679192"/>
            <a:ext cx="5230368" cy="56692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99632" y="2679192"/>
            <a:ext cx="7315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2512" y="2706624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rebase main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2935224"/>
            <a:ext cx="4901184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Replay local commits on top of main; never on shared history.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99632" y="3310128"/>
            <a:ext cx="5230368" cy="56692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99632" y="3310128"/>
            <a:ext cx="7315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82512" y="3337560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rebase --abort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3566160"/>
            <a:ext cx="4901184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Cancel an in-progress rebase and restore the prior state.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99632" y="3941064"/>
            <a:ext cx="5230368" cy="56692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99632" y="3941064"/>
            <a:ext cx="7315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82512" y="3968496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cherry-pick &lt;commit&gt;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82512" y="4197096"/>
            <a:ext cx="4901184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Copy one commit onto the current branch.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99632" y="4572000"/>
            <a:ext cx="5230368" cy="56692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99632" y="4572000"/>
            <a:ext cx="7315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82512" y="4599432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branch -d &lt;branch&gt;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82512" y="4828032"/>
            <a:ext cx="4901184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Delete a branch only after Git confirms it is merged.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CHEAT SHEET · SYNC AND REMOTE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Cheat Sheet 3 — Sync, Remote and Release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64208"/>
            <a:ext cx="1065276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Move history between the local repository and GitHub.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048256"/>
            <a:ext cx="5230368" cy="56692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048256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075688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remote -v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304288"/>
            <a:ext cx="4901184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Inspect remote fetch and push endpoints.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79192"/>
            <a:ext cx="5230368" cy="56692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679192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706624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remote add upstream &lt;url&gt;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935224"/>
            <a:ext cx="4901184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Register the source repository of a fork.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310128"/>
            <a:ext cx="5230368" cy="56692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310128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337560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fetch origin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566160"/>
            <a:ext cx="4901184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Update remote-tracking references without changing working files.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941064"/>
            <a:ext cx="5230368" cy="56692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3941064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968496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branch -vv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197096"/>
            <a:ext cx="4901184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Inspect upstream tracking plus ahead/behind information.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2048256"/>
            <a:ext cx="5230368" cy="56692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9632" y="2048256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2075688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log HEAD..origin/main --oneline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304288"/>
            <a:ext cx="4901184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List incoming commits before integrating them.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9632" y="2679192"/>
            <a:ext cx="5230368" cy="56692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9632" y="2679192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2512" y="2706624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pull --ff-only origin main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2935224"/>
            <a:ext cx="4901184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Fetch and fast-forward without creating an unexpected merge commit.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9632" y="3310128"/>
            <a:ext cx="5230368" cy="56692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99632" y="3310128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2512" y="3337560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push -u origin &lt;branch&gt;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3566160"/>
            <a:ext cx="4901184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Publish a branch and establish its upstream.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99632" y="3941064"/>
            <a:ext cx="5230368" cy="56692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99632" y="3941064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82512" y="3968496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push origin --tags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4197096"/>
            <a:ext cx="4901184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Publish annotated tags so releases are visible on GitHub.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CHEAT SHEET · UNDO AND RESCUE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Cheat Sheet 4 — Undo and Rescue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64208"/>
            <a:ext cx="10652760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Choose the safe undo for the state and sharing status.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048256"/>
            <a:ext cx="5230368" cy="56692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048256"/>
            <a:ext cx="73152" cy="5669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075688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restore &lt;file&gt;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304288"/>
            <a:ext cx="4901184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Discard an unstaged local change to a file.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79192"/>
            <a:ext cx="5230368" cy="56692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679192"/>
            <a:ext cx="73152" cy="5669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706624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restore --staged &lt;file&gt;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935224"/>
            <a:ext cx="4901184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Unstage a file while keeping its working-tree edits.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310128"/>
            <a:ext cx="5230368" cy="56692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310128"/>
            <a:ext cx="73152" cy="5669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337560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reset --soft &lt;commit&gt;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566160"/>
            <a:ext cx="4901184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Move HEAD only; keep the index and working tree.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941064"/>
            <a:ext cx="5230368" cy="56692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3941064"/>
            <a:ext cx="73152" cy="5669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968496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reset --mixed &lt;commit&gt;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197096"/>
            <a:ext cx="4901184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Move HEAD and reset the index; keep the working tree.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2048256"/>
            <a:ext cx="5230368" cy="56692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9632" y="2048256"/>
            <a:ext cx="73152" cy="5669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2075688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reset --hard &lt;commit&gt;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304288"/>
            <a:ext cx="4901184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Move HEAD, index and working tree; discards work.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9632" y="2679192"/>
            <a:ext cx="5230368" cy="56692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9632" y="2679192"/>
            <a:ext cx="73152" cy="5669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2512" y="2706624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revert &lt;commit&gt;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2935224"/>
            <a:ext cx="4901184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Create a new commit that safely reverses shared history.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9632" y="3310128"/>
            <a:ext cx="5230368" cy="56692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99632" y="3310128"/>
            <a:ext cx="73152" cy="5669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2512" y="3337560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reflog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3566160"/>
            <a:ext cx="4901184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List where HEAD has been, so lost commits can be recovered.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99632" y="3941064"/>
            <a:ext cx="5230368" cy="566928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99632" y="3941064"/>
            <a:ext cx="73152" cy="5669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82512" y="3968496"/>
            <a:ext cx="4901184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git switch -c rescue &lt;sha-from-reflog&gt;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4197096"/>
            <a:ext cx="4901184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Recover a detached or reset commit onto a new branch.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6384" y="2121408"/>
            <a:ext cx="128016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2084831"/>
            <a:ext cx="98755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EXAM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2606040"/>
            <a:ext cx="9966960" cy="12984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From Course Completion to Certification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096512"/>
            <a:ext cx="97840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Use weighted practice data to plan your final revision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603504"/>
            <a:ext cx="2971800" cy="1325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6800" b="1">
                <a:solidFill>
                  <a:srgbClr val="E2E8F0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CURRENT OFFICIAL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11096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Credential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GitHub Foundations · GH-900 · beginner level.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755648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1636" y="1755648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7668" y="1911096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Fee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7668" y="2377440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US$99 (regional pricing may apply)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297936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297936"/>
            <a:ext cx="91440" cy="13228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453384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Duration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" y="3919728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100 minutes for the exam.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3297936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297936"/>
            <a:ext cx="91440" cy="13228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3453384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Arial"/>
              </a:rPr>
              <a:t>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7668" y="3919728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Proctored online or at a Pearson VUE test centre.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840224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840224"/>
            <a:ext cx="91440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" y="4995672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Languages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" y="5462016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English, Spanish, Portuguese (Brazil), Korean and Japanese.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1636" y="4840224"/>
            <a:ext cx="5198364" cy="1322832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1636" y="4840224"/>
            <a:ext cx="91440" cy="1322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7668" y="4995672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Passing benchmark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7668" y="5462016"/>
            <a:ext cx="4759452" cy="5730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Microsoft study guide states 700 or greater on its scoring scale.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EXAM PREP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Four-Pass Preparation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21408"/>
            <a:ext cx="2478024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21408"/>
            <a:ext cx="2478024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68780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68780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493008"/>
            <a:ext cx="2148840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Map your baseline by domain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5264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02152" y="2121408"/>
            <a:ext cx="2478024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02152" y="2121408"/>
            <a:ext cx="2478024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93692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93692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6744" y="3493008"/>
            <a:ext cx="2148840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Redo labs for weak domains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0176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27064" y="2121408"/>
            <a:ext cx="2478024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7064" y="2121408"/>
            <a:ext cx="2478024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18604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18604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656" y="3493008"/>
            <a:ext cx="2148840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timed practice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05088" y="3410712"/>
            <a:ext cx="24688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7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51976" y="2121408"/>
            <a:ext cx="2478024" cy="29718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51976" y="2121408"/>
            <a:ext cx="2478024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43516" y="2514600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43516" y="2514600"/>
            <a:ext cx="694944" cy="6949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8" y="3493008"/>
            <a:ext cx="2148840" cy="1234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Review explanations and retest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TERTIARY INFOTECH PRACTICE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Practice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5198364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11096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Practice 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4759452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Learn from explanations and close knowledge gaps.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755648"/>
            <a:ext cx="5198364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1636" y="1755648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7668" y="1911096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Exam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7668" y="2377440"/>
            <a:ext cx="4759452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Simulate the 100-minute constraint.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069080"/>
            <a:ext cx="5198364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069080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24528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Repeat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" y="4690872"/>
            <a:ext cx="4759452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Retake after targeted revision, not immediately.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4069080"/>
            <a:ext cx="5198364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939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224528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Arial"/>
              </a:rPr>
              <a:t>Open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7668" y="4690872"/>
            <a:ext cx="4759452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https://exams.tertiaryinfotech.com/practice-exams/github/github-foundations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SOURCE-ALIGNED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Official Preparation Resources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Study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Microsoft Learn GH-900 study guide and domain objectives.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3504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3504" y="1755648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9536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Practice assessment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9536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Official Microsoft practice assessment.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9768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9768" y="1755648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GitHub Learn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Certification resources and candidate guidance.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69080"/>
            <a:ext cx="91440" cy="20939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Arial"/>
              </a:rPr>
              <a:t>GitHub Education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Student preparation resources and eligible voucher offers.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3504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13504" y="4069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9536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Exam sandbox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9536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Experience the exam interface before test day.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9768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9768" y="4069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5800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Your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5800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the fourteen Excel starter workbooks and completed examples as a personal revision record.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PEARSON VUE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Exam-Day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Account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a personal Microsoft account so the credential remains portable.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3504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3504" y="1755648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9536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Booking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9536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Confirm the date, time zone, delivery mode and 100-minute appointment.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9768" y="1755648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9768" y="1755648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1911096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Identity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2377440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Prepare the accepted, unexpired identification named in the booking rules.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69080"/>
            <a:ext cx="91440" cy="20939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Arial"/>
              </a:rPr>
              <a:t>Environment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 online delivery, complete the system test and prepare a clear private workspace.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3504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13504" y="4069080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9536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Check-in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9536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Arrive early, follow the proctor instructions and protect exam content.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9768" y="4069080"/>
            <a:ext cx="3380232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9768" y="4069080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5800" y="4224528"/>
            <a:ext cx="29413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After the exam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5800" y="4690872"/>
            <a:ext cx="2941320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Save the score report and use domain feedback to plan any follow-up revision.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Course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55648"/>
            <a:ext cx="5198364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755648"/>
            <a:ext cx="91440" cy="2093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911096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377440"/>
            <a:ext cx="4759452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Tell us what worked and what to improve in the course feedback form.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755648"/>
            <a:ext cx="5198364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1636" y="1755648"/>
            <a:ext cx="91440" cy="2093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7668" y="1911096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7668" y="2377440"/>
            <a:ext cx="4759452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Rate the trainer, the content and the labs honestly.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069080"/>
            <a:ext cx="5198364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069080"/>
            <a:ext cx="91440" cy="2093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24528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Certificate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" y="4690872"/>
            <a:ext cx="4759452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Your certificate of completion is emailed after the course.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4069080"/>
            <a:ext cx="5198364" cy="2093976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69080"/>
            <a:ext cx="91440" cy="20939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7668" y="4224528"/>
            <a:ext cx="4759452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Arial"/>
              </a:rPr>
              <a:t>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7668" y="4690872"/>
            <a:ext cx="4759452" cy="13441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Ask the trainer if you need help with any lab after class.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51560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GIT AND GITHUB MASTERCLASS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2376"/>
            <a:ext cx="10744200" cy="7132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55664"/>
            <a:ext cx="49377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Git-and-Github-Masterclass · C171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55664"/>
            <a:ext cx="36576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943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975104"/>
            <a:ext cx="10561320" cy="3255264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2359152"/>
            <a:ext cx="9829800" cy="13258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100" b="1">
                <a:solidFill>
                  <a:srgbClr val="161B26"/>
                </a:solidFill>
                <a:latin typeface="Arial"/>
              </a:rPr>
              <a:t>Collaborate clearly. Automate responsibly. Secure every change.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6512"/>
            <a:ext cx="9738360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You are ready to apply GitHub foundations at work and prepare for GH-900.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